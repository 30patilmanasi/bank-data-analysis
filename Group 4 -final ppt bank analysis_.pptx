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7" r:id="rId1"/>
  </p:sldMasterIdLst>
  <p:sldIdLst>
    <p:sldId id="256" r:id="rId2"/>
    <p:sldId id="265" r:id="rId3"/>
    <p:sldId id="272" r:id="rId4"/>
    <p:sldId id="266" r:id="rId5"/>
    <p:sldId id="259" r:id="rId6"/>
    <p:sldId id="276" r:id="rId7"/>
    <p:sldId id="267" r:id="rId8"/>
    <p:sldId id="268" r:id="rId9"/>
    <p:sldId id="269" r:id="rId10"/>
    <p:sldId id="260" r:id="rId11"/>
    <p:sldId id="261" r:id="rId12"/>
    <p:sldId id="262" r:id="rId13"/>
    <p:sldId id="275"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2" autoAdjust="0"/>
    <p:restoredTop sz="94660"/>
  </p:normalViewPr>
  <p:slideViewPr>
    <p:cSldViewPr snapToGrid="0">
      <p:cViewPr varScale="1">
        <p:scale>
          <a:sx n="78" d="100"/>
          <a:sy n="78" d="100"/>
        </p:scale>
        <p:origin x="9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E3DFDF7A-B491-49E0-BF39-D787C9D06CD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B33381E-557F-47DF-8FFF-7F496F3716B1}">
      <dgm:prSet/>
      <dgm:spPr/>
      <dgm:t>
        <a:bodyPr/>
        <a:lstStyle/>
        <a:p>
          <a:r>
            <a:rPr lang="en-US"/>
            <a:t>This is Bank loan of Customers project where we were provided with 2 datasets with .csv extension and .xlsx extension files having 39k rows each and the objective was to analyze the growth that bank got within given years in loans.</a:t>
          </a:r>
        </a:p>
      </dgm:t>
    </dgm:pt>
    <dgm:pt modelId="{C5E7BBF9-EF01-43FB-92AD-4649E0AEED1B}" type="parTrans" cxnId="{3F9256C2-52C7-4322-95FB-B4F7BE672369}">
      <dgm:prSet/>
      <dgm:spPr/>
      <dgm:t>
        <a:bodyPr/>
        <a:lstStyle/>
        <a:p>
          <a:endParaRPr lang="en-US"/>
        </a:p>
      </dgm:t>
    </dgm:pt>
    <dgm:pt modelId="{7AF76CEE-32DD-425C-A82B-B690AE168ADC}" type="sibTrans" cxnId="{3F9256C2-52C7-4322-95FB-B4F7BE672369}">
      <dgm:prSet/>
      <dgm:spPr/>
      <dgm:t>
        <a:bodyPr/>
        <a:lstStyle/>
        <a:p>
          <a:endParaRPr lang="en-US"/>
        </a:p>
      </dgm:t>
    </dgm:pt>
    <dgm:pt modelId="{2B67CC38-3F9B-4FE6-8BD5-9ADF12181416}">
      <dgm:prSet/>
      <dgm:spPr/>
      <dgm:t>
        <a:bodyPr/>
        <a:lstStyle/>
        <a:p>
          <a:r>
            <a:rPr lang="en-US" dirty="0"/>
            <a:t>We used MS Excel Power query for analyzing, cleaning and removing duplicates from dataset and prepared dashboard using Tableau and </a:t>
          </a:r>
          <a:r>
            <a:rPr lang="en-US" dirty="0" err="1"/>
            <a:t>PowerBI</a:t>
          </a:r>
          <a:r>
            <a:rPr lang="en-US" dirty="0"/>
            <a:t> tools where we did calculations, merging and prepared interactive dashboards.</a:t>
          </a:r>
        </a:p>
      </dgm:t>
    </dgm:pt>
    <dgm:pt modelId="{D1BBB0DD-F6D9-4273-B511-7E9F9B36F07D}" type="parTrans" cxnId="{C930728A-6A43-4DE9-819B-13A67C2A5BF7}">
      <dgm:prSet/>
      <dgm:spPr/>
      <dgm:t>
        <a:bodyPr/>
        <a:lstStyle/>
        <a:p>
          <a:endParaRPr lang="en-US"/>
        </a:p>
      </dgm:t>
    </dgm:pt>
    <dgm:pt modelId="{405B0CA5-A82B-4293-A7BB-398CE2C6DBDF}" type="sibTrans" cxnId="{C930728A-6A43-4DE9-819B-13A67C2A5BF7}">
      <dgm:prSet/>
      <dgm:spPr/>
      <dgm:t>
        <a:bodyPr/>
        <a:lstStyle/>
        <a:p>
          <a:endParaRPr lang="en-US"/>
        </a:p>
      </dgm:t>
    </dgm:pt>
    <dgm:pt modelId="{8D5F095D-B655-4BF4-A9A2-CB1FD432D86C}" type="pres">
      <dgm:prSet presAssocID="{E3DFDF7A-B491-49E0-BF39-D787C9D06CD6}" presName="root" presStyleCnt="0">
        <dgm:presLayoutVars>
          <dgm:dir/>
          <dgm:resizeHandles val="exact"/>
        </dgm:presLayoutVars>
      </dgm:prSet>
      <dgm:spPr/>
    </dgm:pt>
    <dgm:pt modelId="{2D705412-3B1C-47E5-B0C8-328050CCC1BD}" type="pres">
      <dgm:prSet presAssocID="{CB33381E-557F-47DF-8FFF-7F496F3716B1}" presName="compNode" presStyleCnt="0"/>
      <dgm:spPr/>
    </dgm:pt>
    <dgm:pt modelId="{8B07AC57-3E69-4FBA-B7A8-C9EA282311F3}" type="pres">
      <dgm:prSet presAssocID="{CB33381E-557F-47DF-8FFF-7F496F3716B1}" presName="bgRect" presStyleLbl="bgShp" presStyleIdx="0" presStyleCnt="2"/>
      <dgm:spPr/>
    </dgm:pt>
    <dgm:pt modelId="{1AB4658D-D919-400A-94ED-BFF9D17CAF02}" type="pres">
      <dgm:prSet presAssocID="{CB33381E-557F-47DF-8FFF-7F496F3716B1}"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nk"/>
        </a:ext>
      </dgm:extLst>
    </dgm:pt>
    <dgm:pt modelId="{AA9A76FA-3B35-4F98-9FE4-6DE0912D4D99}" type="pres">
      <dgm:prSet presAssocID="{CB33381E-557F-47DF-8FFF-7F496F3716B1}" presName="spaceRect" presStyleCnt="0"/>
      <dgm:spPr/>
    </dgm:pt>
    <dgm:pt modelId="{66243C9C-34F2-4F91-B086-FB8162D3F47E}" type="pres">
      <dgm:prSet presAssocID="{CB33381E-557F-47DF-8FFF-7F496F3716B1}" presName="parTx" presStyleLbl="revTx" presStyleIdx="0" presStyleCnt="2">
        <dgm:presLayoutVars>
          <dgm:chMax val="0"/>
          <dgm:chPref val="0"/>
        </dgm:presLayoutVars>
      </dgm:prSet>
      <dgm:spPr/>
    </dgm:pt>
    <dgm:pt modelId="{D28A16D6-653B-4B67-B253-34647D59BA3E}" type="pres">
      <dgm:prSet presAssocID="{7AF76CEE-32DD-425C-A82B-B690AE168ADC}" presName="sibTrans" presStyleCnt="0"/>
      <dgm:spPr/>
    </dgm:pt>
    <dgm:pt modelId="{69FF621F-614E-4D11-A02A-B186A3903A7C}" type="pres">
      <dgm:prSet presAssocID="{2B67CC38-3F9B-4FE6-8BD5-9ADF12181416}" presName="compNode" presStyleCnt="0"/>
      <dgm:spPr/>
    </dgm:pt>
    <dgm:pt modelId="{6AF303C9-7593-4D18-870D-46AEC4E1B844}" type="pres">
      <dgm:prSet presAssocID="{2B67CC38-3F9B-4FE6-8BD5-9ADF12181416}" presName="bgRect" presStyleLbl="bgShp" presStyleIdx="1" presStyleCnt="2"/>
      <dgm:spPr/>
    </dgm:pt>
    <dgm:pt modelId="{93158327-A9B2-4DFE-892D-B5DF05FE70D9}" type="pres">
      <dgm:prSet presAssocID="{2B67CC38-3F9B-4FE6-8BD5-9ADF12181416}"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5F50A1F1-9D95-4DF1-8BE7-381FF5D90786}" type="pres">
      <dgm:prSet presAssocID="{2B67CC38-3F9B-4FE6-8BD5-9ADF12181416}" presName="spaceRect" presStyleCnt="0"/>
      <dgm:spPr/>
    </dgm:pt>
    <dgm:pt modelId="{FDDD2D72-8A0A-45F8-BE96-D8C0DF4FEBED}" type="pres">
      <dgm:prSet presAssocID="{2B67CC38-3F9B-4FE6-8BD5-9ADF12181416}" presName="parTx" presStyleLbl="revTx" presStyleIdx="1" presStyleCnt="2">
        <dgm:presLayoutVars>
          <dgm:chMax val="0"/>
          <dgm:chPref val="0"/>
        </dgm:presLayoutVars>
      </dgm:prSet>
      <dgm:spPr/>
    </dgm:pt>
  </dgm:ptLst>
  <dgm:cxnLst>
    <dgm:cxn modelId="{22A31868-51D7-493C-B0D6-68DB21144FDC}" type="presOf" srcId="{CB33381E-557F-47DF-8FFF-7F496F3716B1}" destId="{66243C9C-34F2-4F91-B086-FB8162D3F47E}" srcOrd="0" destOrd="0" presId="urn:microsoft.com/office/officeart/2018/2/layout/IconVerticalSolidList"/>
    <dgm:cxn modelId="{C930728A-6A43-4DE9-819B-13A67C2A5BF7}" srcId="{E3DFDF7A-B491-49E0-BF39-D787C9D06CD6}" destId="{2B67CC38-3F9B-4FE6-8BD5-9ADF12181416}" srcOrd="1" destOrd="0" parTransId="{D1BBB0DD-F6D9-4273-B511-7E9F9B36F07D}" sibTransId="{405B0CA5-A82B-4293-A7BB-398CE2C6DBDF}"/>
    <dgm:cxn modelId="{8E692DB0-4404-46BF-9490-8141AAAD9611}" type="presOf" srcId="{2B67CC38-3F9B-4FE6-8BD5-9ADF12181416}" destId="{FDDD2D72-8A0A-45F8-BE96-D8C0DF4FEBED}" srcOrd="0" destOrd="0" presId="urn:microsoft.com/office/officeart/2018/2/layout/IconVerticalSolidList"/>
    <dgm:cxn modelId="{3F9256C2-52C7-4322-95FB-B4F7BE672369}" srcId="{E3DFDF7A-B491-49E0-BF39-D787C9D06CD6}" destId="{CB33381E-557F-47DF-8FFF-7F496F3716B1}" srcOrd="0" destOrd="0" parTransId="{C5E7BBF9-EF01-43FB-92AD-4649E0AEED1B}" sibTransId="{7AF76CEE-32DD-425C-A82B-B690AE168ADC}"/>
    <dgm:cxn modelId="{330E3CF4-4987-4001-B38A-921B13AB8FD1}" type="presOf" srcId="{E3DFDF7A-B491-49E0-BF39-D787C9D06CD6}" destId="{8D5F095D-B655-4BF4-A9A2-CB1FD432D86C}" srcOrd="0" destOrd="0" presId="urn:microsoft.com/office/officeart/2018/2/layout/IconVerticalSolidList"/>
    <dgm:cxn modelId="{3B1B7456-A2EF-4516-A77F-DD1D13B0FF82}" type="presParOf" srcId="{8D5F095D-B655-4BF4-A9A2-CB1FD432D86C}" destId="{2D705412-3B1C-47E5-B0C8-328050CCC1BD}" srcOrd="0" destOrd="0" presId="urn:microsoft.com/office/officeart/2018/2/layout/IconVerticalSolidList"/>
    <dgm:cxn modelId="{E439BDA5-3C88-4385-8AD7-2A24C7989897}" type="presParOf" srcId="{2D705412-3B1C-47E5-B0C8-328050CCC1BD}" destId="{8B07AC57-3E69-4FBA-B7A8-C9EA282311F3}" srcOrd="0" destOrd="0" presId="urn:microsoft.com/office/officeart/2018/2/layout/IconVerticalSolidList"/>
    <dgm:cxn modelId="{929104FA-2FCE-4347-ADEA-8BCE62D31B8D}" type="presParOf" srcId="{2D705412-3B1C-47E5-B0C8-328050CCC1BD}" destId="{1AB4658D-D919-400A-94ED-BFF9D17CAF02}" srcOrd="1" destOrd="0" presId="urn:microsoft.com/office/officeart/2018/2/layout/IconVerticalSolidList"/>
    <dgm:cxn modelId="{91793A04-7720-4618-BEE0-084F6E8A1E09}" type="presParOf" srcId="{2D705412-3B1C-47E5-B0C8-328050CCC1BD}" destId="{AA9A76FA-3B35-4F98-9FE4-6DE0912D4D99}" srcOrd="2" destOrd="0" presId="urn:microsoft.com/office/officeart/2018/2/layout/IconVerticalSolidList"/>
    <dgm:cxn modelId="{3794CC72-632E-48EB-BE75-F62AD810D71B}" type="presParOf" srcId="{2D705412-3B1C-47E5-B0C8-328050CCC1BD}" destId="{66243C9C-34F2-4F91-B086-FB8162D3F47E}" srcOrd="3" destOrd="0" presId="urn:microsoft.com/office/officeart/2018/2/layout/IconVerticalSolidList"/>
    <dgm:cxn modelId="{7EAD5026-D7CA-4514-8733-6A0825991E96}" type="presParOf" srcId="{8D5F095D-B655-4BF4-A9A2-CB1FD432D86C}" destId="{D28A16D6-653B-4B67-B253-34647D59BA3E}" srcOrd="1" destOrd="0" presId="urn:microsoft.com/office/officeart/2018/2/layout/IconVerticalSolidList"/>
    <dgm:cxn modelId="{8605F968-2542-430D-ADE6-52955FD77E25}" type="presParOf" srcId="{8D5F095D-B655-4BF4-A9A2-CB1FD432D86C}" destId="{69FF621F-614E-4D11-A02A-B186A3903A7C}" srcOrd="2" destOrd="0" presId="urn:microsoft.com/office/officeart/2018/2/layout/IconVerticalSolidList"/>
    <dgm:cxn modelId="{289F4564-9904-42C9-80F8-2E722AFB7250}" type="presParOf" srcId="{69FF621F-614E-4D11-A02A-B186A3903A7C}" destId="{6AF303C9-7593-4D18-870D-46AEC4E1B844}" srcOrd="0" destOrd="0" presId="urn:microsoft.com/office/officeart/2018/2/layout/IconVerticalSolidList"/>
    <dgm:cxn modelId="{A2B73986-497A-4EC7-BB56-316201EE0C7A}" type="presParOf" srcId="{69FF621F-614E-4D11-A02A-B186A3903A7C}" destId="{93158327-A9B2-4DFE-892D-B5DF05FE70D9}" srcOrd="1" destOrd="0" presId="urn:microsoft.com/office/officeart/2018/2/layout/IconVerticalSolidList"/>
    <dgm:cxn modelId="{D57B6CC7-3C55-4ACC-B093-0D8A966A6078}" type="presParOf" srcId="{69FF621F-614E-4D11-A02A-B186A3903A7C}" destId="{5F50A1F1-9D95-4DF1-8BE7-381FF5D90786}" srcOrd="2" destOrd="0" presId="urn:microsoft.com/office/officeart/2018/2/layout/IconVerticalSolidList"/>
    <dgm:cxn modelId="{2FE38140-B55A-4120-9B4C-1211A7E124D1}" type="presParOf" srcId="{69FF621F-614E-4D11-A02A-B186A3903A7C}" destId="{FDDD2D72-8A0A-45F8-BE96-D8C0DF4FEBE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59C29A-5CDC-427C-AFAB-3471E3573E4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F56DC7C-5F22-4136-9735-B372929B2AF1}">
      <dgm:prSet/>
      <dgm:spPr/>
      <dgm:t>
        <a:bodyPr/>
        <a:lstStyle/>
        <a:p>
          <a:r>
            <a:rPr lang="en-US" b="1"/>
            <a:t>KPI1 </a:t>
          </a:r>
          <a:r>
            <a:rPr lang="en-US"/>
            <a:t>- </a:t>
          </a:r>
          <a:r>
            <a:rPr lang="en-IN"/>
            <a:t>Year wise loan amount Stats</a:t>
          </a:r>
          <a:endParaRPr lang="en-US"/>
        </a:p>
      </dgm:t>
    </dgm:pt>
    <dgm:pt modelId="{7E83E81C-8A64-4C6E-92CA-2ED7AC5C3E0B}" type="parTrans" cxnId="{55E51AE1-78EC-4CBF-9917-66F6F2DCB2C0}">
      <dgm:prSet/>
      <dgm:spPr/>
      <dgm:t>
        <a:bodyPr/>
        <a:lstStyle/>
        <a:p>
          <a:endParaRPr lang="en-US"/>
        </a:p>
      </dgm:t>
    </dgm:pt>
    <dgm:pt modelId="{D2B88DCC-07FE-443C-A197-358A8CBBC1C2}" type="sibTrans" cxnId="{55E51AE1-78EC-4CBF-9917-66F6F2DCB2C0}">
      <dgm:prSet/>
      <dgm:spPr/>
      <dgm:t>
        <a:bodyPr/>
        <a:lstStyle/>
        <a:p>
          <a:endParaRPr lang="en-US"/>
        </a:p>
      </dgm:t>
    </dgm:pt>
    <dgm:pt modelId="{9D0A683F-FDD6-4973-A438-2EA210DD6CCA}">
      <dgm:prSet/>
      <dgm:spPr/>
      <dgm:t>
        <a:bodyPr/>
        <a:lstStyle/>
        <a:p>
          <a:r>
            <a:rPr lang="en-IN" b="1"/>
            <a:t>KPI 2 </a:t>
          </a:r>
          <a:r>
            <a:rPr lang="en-IN"/>
            <a:t>- Grade and sub grade wise revol_bal</a:t>
          </a:r>
          <a:endParaRPr lang="en-US"/>
        </a:p>
      </dgm:t>
    </dgm:pt>
    <dgm:pt modelId="{E3D4B11F-337C-4387-8A42-8D024ECF6DCC}" type="parTrans" cxnId="{98DA078C-D44B-4178-94DE-B51FF6C3CB81}">
      <dgm:prSet/>
      <dgm:spPr/>
      <dgm:t>
        <a:bodyPr/>
        <a:lstStyle/>
        <a:p>
          <a:endParaRPr lang="en-US"/>
        </a:p>
      </dgm:t>
    </dgm:pt>
    <dgm:pt modelId="{EE948743-BD7D-4032-8C10-7FF820B1890D}" type="sibTrans" cxnId="{98DA078C-D44B-4178-94DE-B51FF6C3CB81}">
      <dgm:prSet/>
      <dgm:spPr/>
      <dgm:t>
        <a:bodyPr/>
        <a:lstStyle/>
        <a:p>
          <a:endParaRPr lang="en-US"/>
        </a:p>
      </dgm:t>
    </dgm:pt>
    <dgm:pt modelId="{74E8E043-969C-4CA4-9675-EA7F6D3022B7}">
      <dgm:prSet/>
      <dgm:spPr/>
      <dgm:t>
        <a:bodyPr/>
        <a:lstStyle/>
        <a:p>
          <a:r>
            <a:rPr lang="en-IN" b="1"/>
            <a:t>KPI</a:t>
          </a:r>
          <a:r>
            <a:rPr lang="en-IN"/>
            <a:t> </a:t>
          </a:r>
          <a:r>
            <a:rPr lang="en-IN" b="1"/>
            <a:t>3</a:t>
          </a:r>
          <a:r>
            <a:rPr lang="en-IN"/>
            <a:t> - Total Payment for Verified Status Vs Total Payment for Non - Verified  Status</a:t>
          </a:r>
          <a:endParaRPr lang="en-US"/>
        </a:p>
      </dgm:t>
    </dgm:pt>
    <dgm:pt modelId="{E3FD90A9-6C0C-4705-8AE2-BA0A805C51B9}" type="parTrans" cxnId="{D97DE0BB-1985-409F-8630-CEA9ED6FB373}">
      <dgm:prSet/>
      <dgm:spPr/>
      <dgm:t>
        <a:bodyPr/>
        <a:lstStyle/>
        <a:p>
          <a:endParaRPr lang="en-US"/>
        </a:p>
      </dgm:t>
    </dgm:pt>
    <dgm:pt modelId="{1A79D12D-FCC6-4E0C-807D-0B1181656D58}" type="sibTrans" cxnId="{D97DE0BB-1985-409F-8630-CEA9ED6FB373}">
      <dgm:prSet/>
      <dgm:spPr/>
      <dgm:t>
        <a:bodyPr/>
        <a:lstStyle/>
        <a:p>
          <a:endParaRPr lang="en-US"/>
        </a:p>
      </dgm:t>
    </dgm:pt>
    <dgm:pt modelId="{A11BF623-1EEF-4A60-B418-544826609E70}">
      <dgm:prSet/>
      <dgm:spPr/>
      <dgm:t>
        <a:bodyPr/>
        <a:lstStyle/>
        <a:p>
          <a:r>
            <a:rPr lang="en-IN" b="1"/>
            <a:t>KPI 4 </a:t>
          </a:r>
          <a:r>
            <a:rPr lang="en-IN"/>
            <a:t>- State wise and month wise loan status</a:t>
          </a:r>
          <a:endParaRPr lang="en-US"/>
        </a:p>
      </dgm:t>
    </dgm:pt>
    <dgm:pt modelId="{BAFF64B0-9B78-4380-922E-44D7F90E1E5E}" type="parTrans" cxnId="{CBAE0001-C25A-4834-B67A-A6815955D726}">
      <dgm:prSet/>
      <dgm:spPr/>
      <dgm:t>
        <a:bodyPr/>
        <a:lstStyle/>
        <a:p>
          <a:endParaRPr lang="en-US"/>
        </a:p>
      </dgm:t>
    </dgm:pt>
    <dgm:pt modelId="{BA4C0D31-358F-4357-9E2C-1D6B557A7581}" type="sibTrans" cxnId="{CBAE0001-C25A-4834-B67A-A6815955D726}">
      <dgm:prSet/>
      <dgm:spPr/>
      <dgm:t>
        <a:bodyPr/>
        <a:lstStyle/>
        <a:p>
          <a:endParaRPr lang="en-US"/>
        </a:p>
      </dgm:t>
    </dgm:pt>
    <dgm:pt modelId="{38CBAC88-E6DA-4A75-A4AA-5A1B4EDA8833}">
      <dgm:prSet/>
      <dgm:spPr/>
      <dgm:t>
        <a:bodyPr/>
        <a:lstStyle/>
        <a:p>
          <a:r>
            <a:rPr lang="en-IN" b="1"/>
            <a:t>KPI 5</a:t>
          </a:r>
          <a:r>
            <a:rPr lang="en-IN"/>
            <a:t> - Home ownership Vs last payment date       stats</a:t>
          </a:r>
          <a:endParaRPr lang="en-US"/>
        </a:p>
      </dgm:t>
    </dgm:pt>
    <dgm:pt modelId="{91128470-09EC-4BF1-B5D5-AF9370B27785}" type="parTrans" cxnId="{352D36E8-A4DD-4823-BC07-71A743A63314}">
      <dgm:prSet/>
      <dgm:spPr/>
      <dgm:t>
        <a:bodyPr/>
        <a:lstStyle/>
        <a:p>
          <a:endParaRPr lang="en-US"/>
        </a:p>
      </dgm:t>
    </dgm:pt>
    <dgm:pt modelId="{D5361207-43DF-495E-B828-2F51D3ECF86E}" type="sibTrans" cxnId="{352D36E8-A4DD-4823-BC07-71A743A63314}">
      <dgm:prSet/>
      <dgm:spPr/>
      <dgm:t>
        <a:bodyPr/>
        <a:lstStyle/>
        <a:p>
          <a:endParaRPr lang="en-US"/>
        </a:p>
      </dgm:t>
    </dgm:pt>
    <dgm:pt modelId="{FE229A58-A4A1-4DCC-B62A-A861EACEA7E2}" type="pres">
      <dgm:prSet presAssocID="{6159C29A-5CDC-427C-AFAB-3471E3573E44}" presName="root" presStyleCnt="0">
        <dgm:presLayoutVars>
          <dgm:dir/>
          <dgm:resizeHandles val="exact"/>
        </dgm:presLayoutVars>
      </dgm:prSet>
      <dgm:spPr/>
    </dgm:pt>
    <dgm:pt modelId="{21A34415-3229-4158-8B7C-94EA37D5023B}" type="pres">
      <dgm:prSet presAssocID="{CF56DC7C-5F22-4136-9735-B372929B2AF1}" presName="compNode" presStyleCnt="0"/>
      <dgm:spPr/>
    </dgm:pt>
    <dgm:pt modelId="{BE1DC551-AB74-4879-8523-5CEDFD6B9F4F}" type="pres">
      <dgm:prSet presAssocID="{CF56DC7C-5F22-4136-9735-B372929B2AF1}" presName="bgRect" presStyleLbl="bgShp" presStyleIdx="0" presStyleCnt="5"/>
      <dgm:spPr/>
    </dgm:pt>
    <dgm:pt modelId="{DEF317B8-5383-4F2E-8567-9EDEB5B824F3}" type="pres">
      <dgm:prSet presAssocID="{CF56DC7C-5F22-4136-9735-B372929B2AF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ney"/>
        </a:ext>
      </dgm:extLst>
    </dgm:pt>
    <dgm:pt modelId="{4EE9DEA7-28A3-47D7-B419-24FA83FC1A4F}" type="pres">
      <dgm:prSet presAssocID="{CF56DC7C-5F22-4136-9735-B372929B2AF1}" presName="spaceRect" presStyleCnt="0"/>
      <dgm:spPr/>
    </dgm:pt>
    <dgm:pt modelId="{15630072-9100-4C9F-8014-BE076F126CBC}" type="pres">
      <dgm:prSet presAssocID="{CF56DC7C-5F22-4136-9735-B372929B2AF1}" presName="parTx" presStyleLbl="revTx" presStyleIdx="0" presStyleCnt="5">
        <dgm:presLayoutVars>
          <dgm:chMax val="0"/>
          <dgm:chPref val="0"/>
        </dgm:presLayoutVars>
      </dgm:prSet>
      <dgm:spPr/>
    </dgm:pt>
    <dgm:pt modelId="{3096E840-03C7-4137-A193-4B06237DB3C4}" type="pres">
      <dgm:prSet presAssocID="{D2B88DCC-07FE-443C-A197-358A8CBBC1C2}" presName="sibTrans" presStyleCnt="0"/>
      <dgm:spPr/>
    </dgm:pt>
    <dgm:pt modelId="{1D5B18CA-1F94-46BB-828F-18C7AE0A754C}" type="pres">
      <dgm:prSet presAssocID="{9D0A683F-FDD6-4973-A438-2EA210DD6CCA}" presName="compNode" presStyleCnt="0"/>
      <dgm:spPr/>
    </dgm:pt>
    <dgm:pt modelId="{5E009B64-93D0-4580-9E13-B54DDE06EE43}" type="pres">
      <dgm:prSet presAssocID="{9D0A683F-FDD6-4973-A438-2EA210DD6CCA}" presName="bgRect" presStyleLbl="bgShp" presStyleIdx="1" presStyleCnt="5"/>
      <dgm:spPr/>
    </dgm:pt>
    <dgm:pt modelId="{B212424A-96E4-4DAA-91D2-3A19B65690F3}" type="pres">
      <dgm:prSet presAssocID="{9D0A683F-FDD6-4973-A438-2EA210DD6CCA}"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cket and shovel"/>
        </a:ext>
      </dgm:extLst>
    </dgm:pt>
    <dgm:pt modelId="{F1BB8E22-308F-4611-90A7-2E4651343677}" type="pres">
      <dgm:prSet presAssocID="{9D0A683F-FDD6-4973-A438-2EA210DD6CCA}" presName="spaceRect" presStyleCnt="0"/>
      <dgm:spPr/>
    </dgm:pt>
    <dgm:pt modelId="{B64C4C53-BDA8-4EEE-B5F2-9C9CAB5DE37D}" type="pres">
      <dgm:prSet presAssocID="{9D0A683F-FDD6-4973-A438-2EA210DD6CCA}" presName="parTx" presStyleLbl="revTx" presStyleIdx="1" presStyleCnt="5">
        <dgm:presLayoutVars>
          <dgm:chMax val="0"/>
          <dgm:chPref val="0"/>
        </dgm:presLayoutVars>
      </dgm:prSet>
      <dgm:spPr/>
    </dgm:pt>
    <dgm:pt modelId="{56C0C113-EF8C-408B-BCD7-8D12E18B5822}" type="pres">
      <dgm:prSet presAssocID="{EE948743-BD7D-4032-8C10-7FF820B1890D}" presName="sibTrans" presStyleCnt="0"/>
      <dgm:spPr/>
    </dgm:pt>
    <dgm:pt modelId="{3F7CAAA8-EF66-4144-BE9D-5BB655316004}" type="pres">
      <dgm:prSet presAssocID="{74E8E043-969C-4CA4-9675-EA7F6D3022B7}" presName="compNode" presStyleCnt="0"/>
      <dgm:spPr/>
    </dgm:pt>
    <dgm:pt modelId="{E698FC58-CC52-4ACA-B510-F57524750F63}" type="pres">
      <dgm:prSet presAssocID="{74E8E043-969C-4CA4-9675-EA7F6D3022B7}" presName="bgRect" presStyleLbl="bgShp" presStyleIdx="2" presStyleCnt="5"/>
      <dgm:spPr/>
    </dgm:pt>
    <dgm:pt modelId="{B22A3E41-BA15-45CC-A95A-04333AAA1A89}" type="pres">
      <dgm:prSet presAssocID="{74E8E043-969C-4CA4-9675-EA7F6D3022B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E2A1BC39-929E-42DD-8CF1-7ECE7C759104}" type="pres">
      <dgm:prSet presAssocID="{74E8E043-969C-4CA4-9675-EA7F6D3022B7}" presName="spaceRect" presStyleCnt="0"/>
      <dgm:spPr/>
    </dgm:pt>
    <dgm:pt modelId="{E4F72AC8-FB27-430B-B2A0-223D43C2121D}" type="pres">
      <dgm:prSet presAssocID="{74E8E043-969C-4CA4-9675-EA7F6D3022B7}" presName="parTx" presStyleLbl="revTx" presStyleIdx="2" presStyleCnt="5">
        <dgm:presLayoutVars>
          <dgm:chMax val="0"/>
          <dgm:chPref val="0"/>
        </dgm:presLayoutVars>
      </dgm:prSet>
      <dgm:spPr/>
    </dgm:pt>
    <dgm:pt modelId="{1A4FE8B9-F3AF-4DA8-9271-70C5ABD68B50}" type="pres">
      <dgm:prSet presAssocID="{1A79D12D-FCC6-4E0C-807D-0B1181656D58}" presName="sibTrans" presStyleCnt="0"/>
      <dgm:spPr/>
    </dgm:pt>
    <dgm:pt modelId="{D951EA3A-ED8D-4F6B-BB5D-D2037D0C06E9}" type="pres">
      <dgm:prSet presAssocID="{A11BF623-1EEF-4A60-B418-544826609E70}" presName="compNode" presStyleCnt="0"/>
      <dgm:spPr/>
    </dgm:pt>
    <dgm:pt modelId="{E56066D9-8F16-4476-ABFC-4C5F5D7BA436}" type="pres">
      <dgm:prSet presAssocID="{A11BF623-1EEF-4A60-B418-544826609E70}" presName="bgRect" presStyleLbl="bgShp" presStyleIdx="3" presStyleCnt="5"/>
      <dgm:spPr/>
    </dgm:pt>
    <dgm:pt modelId="{0554A65B-332C-4352-9FE1-71CAA222510C}" type="pres">
      <dgm:prSet presAssocID="{A11BF623-1EEF-4A60-B418-544826609E7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umbs Up Sign"/>
        </a:ext>
      </dgm:extLst>
    </dgm:pt>
    <dgm:pt modelId="{93087E5C-BB63-4D92-997D-008FCDFBE095}" type="pres">
      <dgm:prSet presAssocID="{A11BF623-1EEF-4A60-B418-544826609E70}" presName="spaceRect" presStyleCnt="0"/>
      <dgm:spPr/>
    </dgm:pt>
    <dgm:pt modelId="{4D73781B-A829-4BE6-AAC4-72B741ABED15}" type="pres">
      <dgm:prSet presAssocID="{A11BF623-1EEF-4A60-B418-544826609E70}" presName="parTx" presStyleLbl="revTx" presStyleIdx="3" presStyleCnt="5">
        <dgm:presLayoutVars>
          <dgm:chMax val="0"/>
          <dgm:chPref val="0"/>
        </dgm:presLayoutVars>
      </dgm:prSet>
      <dgm:spPr/>
    </dgm:pt>
    <dgm:pt modelId="{CDDFEC2B-5758-482B-A879-12E936DB7DD8}" type="pres">
      <dgm:prSet presAssocID="{BA4C0D31-358F-4357-9E2C-1D6B557A7581}" presName="sibTrans" presStyleCnt="0"/>
      <dgm:spPr/>
    </dgm:pt>
    <dgm:pt modelId="{3B30E5EA-AF3A-4D6C-9FDB-C32D8AA203FA}" type="pres">
      <dgm:prSet presAssocID="{38CBAC88-E6DA-4A75-A4AA-5A1B4EDA8833}" presName="compNode" presStyleCnt="0"/>
      <dgm:spPr/>
    </dgm:pt>
    <dgm:pt modelId="{CE5AA206-04D0-4DE8-966D-C33075F7712B}" type="pres">
      <dgm:prSet presAssocID="{38CBAC88-E6DA-4A75-A4AA-5A1B4EDA8833}" presName="bgRect" presStyleLbl="bgShp" presStyleIdx="4" presStyleCnt="5"/>
      <dgm:spPr/>
    </dgm:pt>
    <dgm:pt modelId="{8F796CA2-2CE0-4E89-A372-C551ECF26CE5}" type="pres">
      <dgm:prSet presAssocID="{38CBAC88-E6DA-4A75-A4AA-5A1B4EDA8833}"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ouse"/>
        </a:ext>
      </dgm:extLst>
    </dgm:pt>
    <dgm:pt modelId="{15DDBA12-A422-4D76-9F51-BBE383A9B930}" type="pres">
      <dgm:prSet presAssocID="{38CBAC88-E6DA-4A75-A4AA-5A1B4EDA8833}" presName="spaceRect" presStyleCnt="0"/>
      <dgm:spPr/>
    </dgm:pt>
    <dgm:pt modelId="{A2846832-BF48-46E1-A3F5-B879B5D38ABF}" type="pres">
      <dgm:prSet presAssocID="{38CBAC88-E6DA-4A75-A4AA-5A1B4EDA8833}" presName="parTx" presStyleLbl="revTx" presStyleIdx="4" presStyleCnt="5">
        <dgm:presLayoutVars>
          <dgm:chMax val="0"/>
          <dgm:chPref val="0"/>
        </dgm:presLayoutVars>
      </dgm:prSet>
      <dgm:spPr/>
    </dgm:pt>
  </dgm:ptLst>
  <dgm:cxnLst>
    <dgm:cxn modelId="{CBAE0001-C25A-4834-B67A-A6815955D726}" srcId="{6159C29A-5CDC-427C-AFAB-3471E3573E44}" destId="{A11BF623-1EEF-4A60-B418-544826609E70}" srcOrd="3" destOrd="0" parTransId="{BAFF64B0-9B78-4380-922E-44D7F90E1E5E}" sibTransId="{BA4C0D31-358F-4357-9E2C-1D6B557A7581}"/>
    <dgm:cxn modelId="{1EAB5F51-8492-4DAD-9D2E-A3C802AB33DA}" type="presOf" srcId="{74E8E043-969C-4CA4-9675-EA7F6D3022B7}" destId="{E4F72AC8-FB27-430B-B2A0-223D43C2121D}" srcOrd="0" destOrd="0" presId="urn:microsoft.com/office/officeart/2018/2/layout/IconVerticalSolidList"/>
    <dgm:cxn modelId="{995E3452-0F64-42C7-B8DA-26CD5D76E5AE}" type="presOf" srcId="{CF56DC7C-5F22-4136-9735-B372929B2AF1}" destId="{15630072-9100-4C9F-8014-BE076F126CBC}" srcOrd="0" destOrd="0" presId="urn:microsoft.com/office/officeart/2018/2/layout/IconVerticalSolidList"/>
    <dgm:cxn modelId="{98DA078C-D44B-4178-94DE-B51FF6C3CB81}" srcId="{6159C29A-5CDC-427C-AFAB-3471E3573E44}" destId="{9D0A683F-FDD6-4973-A438-2EA210DD6CCA}" srcOrd="1" destOrd="0" parTransId="{E3D4B11F-337C-4387-8A42-8D024ECF6DCC}" sibTransId="{EE948743-BD7D-4032-8C10-7FF820B1890D}"/>
    <dgm:cxn modelId="{7536ABAB-F704-4A87-96DD-8E087130F520}" type="presOf" srcId="{6159C29A-5CDC-427C-AFAB-3471E3573E44}" destId="{FE229A58-A4A1-4DCC-B62A-A861EACEA7E2}" srcOrd="0" destOrd="0" presId="urn:microsoft.com/office/officeart/2018/2/layout/IconVerticalSolidList"/>
    <dgm:cxn modelId="{D97DE0BB-1985-409F-8630-CEA9ED6FB373}" srcId="{6159C29A-5CDC-427C-AFAB-3471E3573E44}" destId="{74E8E043-969C-4CA4-9675-EA7F6D3022B7}" srcOrd="2" destOrd="0" parTransId="{E3FD90A9-6C0C-4705-8AE2-BA0A805C51B9}" sibTransId="{1A79D12D-FCC6-4E0C-807D-0B1181656D58}"/>
    <dgm:cxn modelId="{98A7FABC-7498-4008-BBB4-79E44495D664}" type="presOf" srcId="{A11BF623-1EEF-4A60-B418-544826609E70}" destId="{4D73781B-A829-4BE6-AAC4-72B741ABED15}" srcOrd="0" destOrd="0" presId="urn:microsoft.com/office/officeart/2018/2/layout/IconVerticalSolidList"/>
    <dgm:cxn modelId="{37B4DCD2-F591-4C60-BE87-4CB986A597E1}" type="presOf" srcId="{9D0A683F-FDD6-4973-A438-2EA210DD6CCA}" destId="{B64C4C53-BDA8-4EEE-B5F2-9C9CAB5DE37D}" srcOrd="0" destOrd="0" presId="urn:microsoft.com/office/officeart/2018/2/layout/IconVerticalSolidList"/>
    <dgm:cxn modelId="{39724AE0-6DD6-4401-9DD0-D4A7253B3C9F}" type="presOf" srcId="{38CBAC88-E6DA-4A75-A4AA-5A1B4EDA8833}" destId="{A2846832-BF48-46E1-A3F5-B879B5D38ABF}" srcOrd="0" destOrd="0" presId="urn:microsoft.com/office/officeart/2018/2/layout/IconVerticalSolidList"/>
    <dgm:cxn modelId="{55E51AE1-78EC-4CBF-9917-66F6F2DCB2C0}" srcId="{6159C29A-5CDC-427C-AFAB-3471E3573E44}" destId="{CF56DC7C-5F22-4136-9735-B372929B2AF1}" srcOrd="0" destOrd="0" parTransId="{7E83E81C-8A64-4C6E-92CA-2ED7AC5C3E0B}" sibTransId="{D2B88DCC-07FE-443C-A197-358A8CBBC1C2}"/>
    <dgm:cxn modelId="{352D36E8-A4DD-4823-BC07-71A743A63314}" srcId="{6159C29A-5CDC-427C-AFAB-3471E3573E44}" destId="{38CBAC88-E6DA-4A75-A4AA-5A1B4EDA8833}" srcOrd="4" destOrd="0" parTransId="{91128470-09EC-4BF1-B5D5-AF9370B27785}" sibTransId="{D5361207-43DF-495E-B828-2F51D3ECF86E}"/>
    <dgm:cxn modelId="{5C29F959-C9B2-4218-80C8-13BCF78E1EA4}" type="presParOf" srcId="{FE229A58-A4A1-4DCC-B62A-A861EACEA7E2}" destId="{21A34415-3229-4158-8B7C-94EA37D5023B}" srcOrd="0" destOrd="0" presId="urn:microsoft.com/office/officeart/2018/2/layout/IconVerticalSolidList"/>
    <dgm:cxn modelId="{D72B7D09-2790-470A-AF85-32301DC6EA31}" type="presParOf" srcId="{21A34415-3229-4158-8B7C-94EA37D5023B}" destId="{BE1DC551-AB74-4879-8523-5CEDFD6B9F4F}" srcOrd="0" destOrd="0" presId="urn:microsoft.com/office/officeart/2018/2/layout/IconVerticalSolidList"/>
    <dgm:cxn modelId="{6A68301A-A669-4BB4-977E-BEC859E5BE1C}" type="presParOf" srcId="{21A34415-3229-4158-8B7C-94EA37D5023B}" destId="{DEF317B8-5383-4F2E-8567-9EDEB5B824F3}" srcOrd="1" destOrd="0" presId="urn:microsoft.com/office/officeart/2018/2/layout/IconVerticalSolidList"/>
    <dgm:cxn modelId="{9C15D3CF-5F5E-47E6-B3AB-97193F65A6B7}" type="presParOf" srcId="{21A34415-3229-4158-8B7C-94EA37D5023B}" destId="{4EE9DEA7-28A3-47D7-B419-24FA83FC1A4F}" srcOrd="2" destOrd="0" presId="urn:microsoft.com/office/officeart/2018/2/layout/IconVerticalSolidList"/>
    <dgm:cxn modelId="{EB45A958-362D-4B1B-A7ED-58DD5B093858}" type="presParOf" srcId="{21A34415-3229-4158-8B7C-94EA37D5023B}" destId="{15630072-9100-4C9F-8014-BE076F126CBC}" srcOrd="3" destOrd="0" presId="urn:microsoft.com/office/officeart/2018/2/layout/IconVerticalSolidList"/>
    <dgm:cxn modelId="{B072EBFC-AEDB-4313-B527-B452A301DF09}" type="presParOf" srcId="{FE229A58-A4A1-4DCC-B62A-A861EACEA7E2}" destId="{3096E840-03C7-4137-A193-4B06237DB3C4}" srcOrd="1" destOrd="0" presId="urn:microsoft.com/office/officeart/2018/2/layout/IconVerticalSolidList"/>
    <dgm:cxn modelId="{438020CB-0293-41EF-BE4A-37194BC3C833}" type="presParOf" srcId="{FE229A58-A4A1-4DCC-B62A-A861EACEA7E2}" destId="{1D5B18CA-1F94-46BB-828F-18C7AE0A754C}" srcOrd="2" destOrd="0" presId="urn:microsoft.com/office/officeart/2018/2/layout/IconVerticalSolidList"/>
    <dgm:cxn modelId="{F487A388-ED62-460A-A9AC-E3F595327C02}" type="presParOf" srcId="{1D5B18CA-1F94-46BB-828F-18C7AE0A754C}" destId="{5E009B64-93D0-4580-9E13-B54DDE06EE43}" srcOrd="0" destOrd="0" presId="urn:microsoft.com/office/officeart/2018/2/layout/IconVerticalSolidList"/>
    <dgm:cxn modelId="{044F0D0C-2205-4BED-A931-F35CD83F14D6}" type="presParOf" srcId="{1D5B18CA-1F94-46BB-828F-18C7AE0A754C}" destId="{B212424A-96E4-4DAA-91D2-3A19B65690F3}" srcOrd="1" destOrd="0" presId="urn:microsoft.com/office/officeart/2018/2/layout/IconVerticalSolidList"/>
    <dgm:cxn modelId="{05A5136C-43AE-4BB1-BA0F-D3261C270DD5}" type="presParOf" srcId="{1D5B18CA-1F94-46BB-828F-18C7AE0A754C}" destId="{F1BB8E22-308F-4611-90A7-2E4651343677}" srcOrd="2" destOrd="0" presId="urn:microsoft.com/office/officeart/2018/2/layout/IconVerticalSolidList"/>
    <dgm:cxn modelId="{09F636BB-5C60-46F0-80F5-5D812BAEAF1E}" type="presParOf" srcId="{1D5B18CA-1F94-46BB-828F-18C7AE0A754C}" destId="{B64C4C53-BDA8-4EEE-B5F2-9C9CAB5DE37D}" srcOrd="3" destOrd="0" presId="urn:microsoft.com/office/officeart/2018/2/layout/IconVerticalSolidList"/>
    <dgm:cxn modelId="{A529D35B-BE3B-4EEC-8423-B3E180EF5B72}" type="presParOf" srcId="{FE229A58-A4A1-4DCC-B62A-A861EACEA7E2}" destId="{56C0C113-EF8C-408B-BCD7-8D12E18B5822}" srcOrd="3" destOrd="0" presId="urn:microsoft.com/office/officeart/2018/2/layout/IconVerticalSolidList"/>
    <dgm:cxn modelId="{8FDB14BD-2028-43F0-B586-778542A98856}" type="presParOf" srcId="{FE229A58-A4A1-4DCC-B62A-A861EACEA7E2}" destId="{3F7CAAA8-EF66-4144-BE9D-5BB655316004}" srcOrd="4" destOrd="0" presId="urn:microsoft.com/office/officeart/2018/2/layout/IconVerticalSolidList"/>
    <dgm:cxn modelId="{BC41A470-E354-47F6-9E21-B42207CFF93C}" type="presParOf" srcId="{3F7CAAA8-EF66-4144-BE9D-5BB655316004}" destId="{E698FC58-CC52-4ACA-B510-F57524750F63}" srcOrd="0" destOrd="0" presId="urn:microsoft.com/office/officeart/2018/2/layout/IconVerticalSolidList"/>
    <dgm:cxn modelId="{3C239163-ADBB-49EB-8241-5B370AB41633}" type="presParOf" srcId="{3F7CAAA8-EF66-4144-BE9D-5BB655316004}" destId="{B22A3E41-BA15-45CC-A95A-04333AAA1A89}" srcOrd="1" destOrd="0" presId="urn:microsoft.com/office/officeart/2018/2/layout/IconVerticalSolidList"/>
    <dgm:cxn modelId="{136F3392-D55F-469C-A3AD-08411A58A68F}" type="presParOf" srcId="{3F7CAAA8-EF66-4144-BE9D-5BB655316004}" destId="{E2A1BC39-929E-42DD-8CF1-7ECE7C759104}" srcOrd="2" destOrd="0" presId="urn:microsoft.com/office/officeart/2018/2/layout/IconVerticalSolidList"/>
    <dgm:cxn modelId="{A2A55437-C343-4D33-A8F4-CFCE75E057BB}" type="presParOf" srcId="{3F7CAAA8-EF66-4144-BE9D-5BB655316004}" destId="{E4F72AC8-FB27-430B-B2A0-223D43C2121D}" srcOrd="3" destOrd="0" presId="urn:microsoft.com/office/officeart/2018/2/layout/IconVerticalSolidList"/>
    <dgm:cxn modelId="{51D4C17C-96EC-45B6-8B2F-8151AB3E8B01}" type="presParOf" srcId="{FE229A58-A4A1-4DCC-B62A-A861EACEA7E2}" destId="{1A4FE8B9-F3AF-4DA8-9271-70C5ABD68B50}" srcOrd="5" destOrd="0" presId="urn:microsoft.com/office/officeart/2018/2/layout/IconVerticalSolidList"/>
    <dgm:cxn modelId="{0E85ABC0-7B6C-4BA3-8064-EC1C36393EBC}" type="presParOf" srcId="{FE229A58-A4A1-4DCC-B62A-A861EACEA7E2}" destId="{D951EA3A-ED8D-4F6B-BB5D-D2037D0C06E9}" srcOrd="6" destOrd="0" presId="urn:microsoft.com/office/officeart/2018/2/layout/IconVerticalSolidList"/>
    <dgm:cxn modelId="{B40BFBAB-D373-4EBB-9BE3-D870AC675231}" type="presParOf" srcId="{D951EA3A-ED8D-4F6B-BB5D-D2037D0C06E9}" destId="{E56066D9-8F16-4476-ABFC-4C5F5D7BA436}" srcOrd="0" destOrd="0" presId="urn:microsoft.com/office/officeart/2018/2/layout/IconVerticalSolidList"/>
    <dgm:cxn modelId="{1F445A3B-505E-4A90-BFDA-BA95FEFDC2A0}" type="presParOf" srcId="{D951EA3A-ED8D-4F6B-BB5D-D2037D0C06E9}" destId="{0554A65B-332C-4352-9FE1-71CAA222510C}" srcOrd="1" destOrd="0" presId="urn:microsoft.com/office/officeart/2018/2/layout/IconVerticalSolidList"/>
    <dgm:cxn modelId="{2AEA3AC8-6A8B-4BCE-B712-DC106E8E3102}" type="presParOf" srcId="{D951EA3A-ED8D-4F6B-BB5D-D2037D0C06E9}" destId="{93087E5C-BB63-4D92-997D-008FCDFBE095}" srcOrd="2" destOrd="0" presId="urn:microsoft.com/office/officeart/2018/2/layout/IconVerticalSolidList"/>
    <dgm:cxn modelId="{52E20FD1-8C4F-4736-842E-3DF465CACF8B}" type="presParOf" srcId="{D951EA3A-ED8D-4F6B-BB5D-D2037D0C06E9}" destId="{4D73781B-A829-4BE6-AAC4-72B741ABED15}" srcOrd="3" destOrd="0" presId="urn:microsoft.com/office/officeart/2018/2/layout/IconVerticalSolidList"/>
    <dgm:cxn modelId="{60C08D6A-7C79-4B32-9A93-B9FA98484625}" type="presParOf" srcId="{FE229A58-A4A1-4DCC-B62A-A861EACEA7E2}" destId="{CDDFEC2B-5758-482B-A879-12E936DB7DD8}" srcOrd="7" destOrd="0" presId="urn:microsoft.com/office/officeart/2018/2/layout/IconVerticalSolidList"/>
    <dgm:cxn modelId="{C161E10A-9957-4925-AAE5-CB8C03FE8C98}" type="presParOf" srcId="{FE229A58-A4A1-4DCC-B62A-A861EACEA7E2}" destId="{3B30E5EA-AF3A-4D6C-9FDB-C32D8AA203FA}" srcOrd="8" destOrd="0" presId="urn:microsoft.com/office/officeart/2018/2/layout/IconVerticalSolidList"/>
    <dgm:cxn modelId="{758E23D2-68EB-4155-A37F-FC9E2F605B24}" type="presParOf" srcId="{3B30E5EA-AF3A-4D6C-9FDB-C32D8AA203FA}" destId="{CE5AA206-04D0-4DE8-966D-C33075F7712B}" srcOrd="0" destOrd="0" presId="urn:microsoft.com/office/officeart/2018/2/layout/IconVerticalSolidList"/>
    <dgm:cxn modelId="{6DCB98CD-56E6-4204-9739-33D1356C11C1}" type="presParOf" srcId="{3B30E5EA-AF3A-4D6C-9FDB-C32D8AA203FA}" destId="{8F796CA2-2CE0-4E89-A372-C551ECF26CE5}" srcOrd="1" destOrd="0" presId="urn:microsoft.com/office/officeart/2018/2/layout/IconVerticalSolidList"/>
    <dgm:cxn modelId="{4D682729-345E-4205-A054-F7F383F70121}" type="presParOf" srcId="{3B30E5EA-AF3A-4D6C-9FDB-C32D8AA203FA}" destId="{15DDBA12-A422-4D76-9F51-BBE383A9B930}" srcOrd="2" destOrd="0" presId="urn:microsoft.com/office/officeart/2018/2/layout/IconVerticalSolidList"/>
    <dgm:cxn modelId="{0E25D2F3-E8B2-4D4B-BA8E-5AB9C3DBE59E}" type="presParOf" srcId="{3B30E5EA-AF3A-4D6C-9FDB-C32D8AA203FA}" destId="{A2846832-BF48-46E1-A3F5-B879B5D38AB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8C67B12-B9BF-450B-96D4-E3B11A561DFA}"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969D6CAA-CE53-4C4C-BEAF-7896C6D36B42}">
      <dgm:prSet/>
      <dgm:spPr/>
      <dgm:t>
        <a:bodyPr/>
        <a:lstStyle/>
        <a:p>
          <a:pPr>
            <a:defRPr cap="all"/>
          </a:pPr>
          <a:r>
            <a:rPr lang="en-US" b="0" i="0" baseline="0" dirty="0"/>
            <a:t>1. How to implement the ETL process which is Extract Transform &amp;  Load and also handled a huge dataset with 39000 + records.</a:t>
          </a:r>
          <a:endParaRPr lang="en-US" dirty="0"/>
        </a:p>
      </dgm:t>
    </dgm:pt>
    <dgm:pt modelId="{527F38D5-D704-4A21-B518-E3CC95BBF1EA}" type="parTrans" cxnId="{99131DA4-DF4E-48FC-BFC0-E3D504461681}">
      <dgm:prSet/>
      <dgm:spPr/>
      <dgm:t>
        <a:bodyPr/>
        <a:lstStyle/>
        <a:p>
          <a:endParaRPr lang="en-US"/>
        </a:p>
      </dgm:t>
    </dgm:pt>
    <dgm:pt modelId="{A457EA67-DDEC-4A27-B757-1D96116148DD}" type="sibTrans" cxnId="{99131DA4-DF4E-48FC-BFC0-E3D504461681}">
      <dgm:prSet/>
      <dgm:spPr/>
      <dgm:t>
        <a:bodyPr/>
        <a:lstStyle/>
        <a:p>
          <a:endParaRPr lang="en-US"/>
        </a:p>
      </dgm:t>
    </dgm:pt>
    <dgm:pt modelId="{CA9BBD27-261E-4004-A961-2AA9DCE9317A}">
      <dgm:prSet/>
      <dgm:spPr/>
      <dgm:t>
        <a:bodyPr/>
        <a:lstStyle/>
        <a:p>
          <a:pPr>
            <a:defRPr cap="all"/>
          </a:pPr>
          <a:r>
            <a:rPr lang="en-US" b="0" i="0" baseline="0"/>
            <a:t>2. Drawing meaningful insights from the data and presenting it.</a:t>
          </a:r>
          <a:endParaRPr lang="en-US"/>
        </a:p>
      </dgm:t>
    </dgm:pt>
    <dgm:pt modelId="{3D392327-A419-4B21-B776-003C34B9A442}" type="parTrans" cxnId="{EE240E55-31CB-4211-8F6B-0CC54DB49C68}">
      <dgm:prSet/>
      <dgm:spPr/>
      <dgm:t>
        <a:bodyPr/>
        <a:lstStyle/>
        <a:p>
          <a:endParaRPr lang="en-US"/>
        </a:p>
      </dgm:t>
    </dgm:pt>
    <dgm:pt modelId="{81DEDC56-5187-4EA7-9767-2790347D7FD4}" type="sibTrans" cxnId="{EE240E55-31CB-4211-8F6B-0CC54DB49C68}">
      <dgm:prSet/>
      <dgm:spPr/>
      <dgm:t>
        <a:bodyPr/>
        <a:lstStyle/>
        <a:p>
          <a:endParaRPr lang="en-US"/>
        </a:p>
      </dgm:t>
    </dgm:pt>
    <dgm:pt modelId="{D8FDDB60-CB6D-4F07-8FCC-0C3F0EDD5A64}">
      <dgm:prSet/>
      <dgm:spPr/>
      <dgm:t>
        <a:bodyPr/>
        <a:lstStyle/>
        <a:p>
          <a:pPr>
            <a:defRPr cap="all"/>
          </a:pPr>
          <a:r>
            <a:rPr lang="en-US" b="0" i="0" baseline="0"/>
            <a:t>3. Understanding of the features and USP of each of the software.</a:t>
          </a:r>
          <a:endParaRPr lang="en-US"/>
        </a:p>
      </dgm:t>
    </dgm:pt>
    <dgm:pt modelId="{857692CE-AEC5-4D4D-B1A1-9BF3BE23B0F0}" type="parTrans" cxnId="{41A4B8CE-B8F7-4A81-A461-234197F2A614}">
      <dgm:prSet/>
      <dgm:spPr/>
      <dgm:t>
        <a:bodyPr/>
        <a:lstStyle/>
        <a:p>
          <a:endParaRPr lang="en-US"/>
        </a:p>
      </dgm:t>
    </dgm:pt>
    <dgm:pt modelId="{1F48751D-95C7-4F35-8D63-8C568345FFE8}" type="sibTrans" cxnId="{41A4B8CE-B8F7-4A81-A461-234197F2A614}">
      <dgm:prSet/>
      <dgm:spPr/>
      <dgm:t>
        <a:bodyPr/>
        <a:lstStyle/>
        <a:p>
          <a:endParaRPr lang="en-US"/>
        </a:p>
      </dgm:t>
    </dgm:pt>
    <dgm:pt modelId="{98C31821-4307-42A1-8225-636CBB6E8FAC}">
      <dgm:prSet/>
      <dgm:spPr/>
      <dgm:t>
        <a:bodyPr/>
        <a:lstStyle/>
        <a:p>
          <a:pPr>
            <a:defRPr cap="all"/>
          </a:pPr>
          <a:r>
            <a:rPr lang="en-US" b="0" i="0" baseline="0"/>
            <a:t>4. Importance of Teamwork.</a:t>
          </a:r>
          <a:endParaRPr lang="en-US"/>
        </a:p>
      </dgm:t>
    </dgm:pt>
    <dgm:pt modelId="{3793E12A-8242-4054-8BD6-67548B24EFB0}" type="parTrans" cxnId="{9BAAB63C-9AFD-4B74-B751-07F8FC2B3204}">
      <dgm:prSet/>
      <dgm:spPr/>
      <dgm:t>
        <a:bodyPr/>
        <a:lstStyle/>
        <a:p>
          <a:endParaRPr lang="en-US"/>
        </a:p>
      </dgm:t>
    </dgm:pt>
    <dgm:pt modelId="{C1D538C1-0EC2-43E2-8D3A-1E1C8CCC9F49}" type="sibTrans" cxnId="{9BAAB63C-9AFD-4B74-B751-07F8FC2B3204}">
      <dgm:prSet/>
      <dgm:spPr/>
      <dgm:t>
        <a:bodyPr/>
        <a:lstStyle/>
        <a:p>
          <a:endParaRPr lang="en-US"/>
        </a:p>
      </dgm:t>
    </dgm:pt>
    <dgm:pt modelId="{B9686DC6-8F7D-4B64-BE53-EEF14820629D}" type="pres">
      <dgm:prSet presAssocID="{78C67B12-B9BF-450B-96D4-E3B11A561DFA}" presName="root" presStyleCnt="0">
        <dgm:presLayoutVars>
          <dgm:dir/>
          <dgm:resizeHandles val="exact"/>
        </dgm:presLayoutVars>
      </dgm:prSet>
      <dgm:spPr/>
    </dgm:pt>
    <dgm:pt modelId="{8FE59D19-11A1-46E4-9009-F529D03592B8}" type="pres">
      <dgm:prSet presAssocID="{969D6CAA-CE53-4C4C-BEAF-7896C6D36B42}" presName="compNode" presStyleCnt="0"/>
      <dgm:spPr/>
    </dgm:pt>
    <dgm:pt modelId="{835B4EC4-11AE-4FD4-9029-3BD384E3B38A}" type="pres">
      <dgm:prSet presAssocID="{969D6CAA-CE53-4C4C-BEAF-7896C6D36B42}" presName="iconBgRect" presStyleLbl="bgShp" presStyleIdx="0" presStyleCnt="4"/>
      <dgm:spPr/>
    </dgm:pt>
    <dgm:pt modelId="{FABF9F3E-9A0E-4AE1-A506-7D0400918D74}" type="pres">
      <dgm:prSet presAssocID="{969D6CAA-CE53-4C4C-BEAF-7896C6D36B4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2A5FD858-E5F2-4D34-95B6-AE2B8F63DD45}" type="pres">
      <dgm:prSet presAssocID="{969D6CAA-CE53-4C4C-BEAF-7896C6D36B42}" presName="spaceRect" presStyleCnt="0"/>
      <dgm:spPr/>
    </dgm:pt>
    <dgm:pt modelId="{B5C76D4A-691D-41CA-A068-712D595C97AB}" type="pres">
      <dgm:prSet presAssocID="{969D6CAA-CE53-4C4C-BEAF-7896C6D36B42}" presName="textRect" presStyleLbl="revTx" presStyleIdx="0" presStyleCnt="4">
        <dgm:presLayoutVars>
          <dgm:chMax val="1"/>
          <dgm:chPref val="1"/>
        </dgm:presLayoutVars>
      </dgm:prSet>
      <dgm:spPr/>
    </dgm:pt>
    <dgm:pt modelId="{BB3E2C60-C828-4281-9C72-91BAE1A76D3D}" type="pres">
      <dgm:prSet presAssocID="{A457EA67-DDEC-4A27-B757-1D96116148DD}" presName="sibTrans" presStyleCnt="0"/>
      <dgm:spPr/>
    </dgm:pt>
    <dgm:pt modelId="{6F6763FE-F653-45C6-8B09-CAB5120AE6A6}" type="pres">
      <dgm:prSet presAssocID="{CA9BBD27-261E-4004-A961-2AA9DCE9317A}" presName="compNode" presStyleCnt="0"/>
      <dgm:spPr/>
    </dgm:pt>
    <dgm:pt modelId="{101A147F-64DC-4C24-AB6B-84C4369894F0}" type="pres">
      <dgm:prSet presAssocID="{CA9BBD27-261E-4004-A961-2AA9DCE9317A}" presName="iconBgRect" presStyleLbl="bgShp" presStyleIdx="1" presStyleCnt="4"/>
      <dgm:spPr/>
    </dgm:pt>
    <dgm:pt modelId="{9D68E972-5E2F-43E2-89D9-AA54B41D4E12}" type="pres">
      <dgm:prSet presAssocID="{CA9BBD27-261E-4004-A961-2AA9DCE9317A}"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sel"/>
        </a:ext>
      </dgm:extLst>
    </dgm:pt>
    <dgm:pt modelId="{F69B59A9-E060-40B5-B6FB-F4053BCA031E}" type="pres">
      <dgm:prSet presAssocID="{CA9BBD27-261E-4004-A961-2AA9DCE9317A}" presName="spaceRect" presStyleCnt="0"/>
      <dgm:spPr/>
    </dgm:pt>
    <dgm:pt modelId="{E76AC2DA-B714-43F4-8E81-F65E2F8DCC46}" type="pres">
      <dgm:prSet presAssocID="{CA9BBD27-261E-4004-A961-2AA9DCE9317A}" presName="textRect" presStyleLbl="revTx" presStyleIdx="1" presStyleCnt="4">
        <dgm:presLayoutVars>
          <dgm:chMax val="1"/>
          <dgm:chPref val="1"/>
        </dgm:presLayoutVars>
      </dgm:prSet>
      <dgm:spPr/>
    </dgm:pt>
    <dgm:pt modelId="{6DC0100D-FE12-4A43-9F8A-3872F8635A9B}" type="pres">
      <dgm:prSet presAssocID="{81DEDC56-5187-4EA7-9767-2790347D7FD4}" presName="sibTrans" presStyleCnt="0"/>
      <dgm:spPr/>
    </dgm:pt>
    <dgm:pt modelId="{9CBE113E-CDFC-44DB-9FE3-AE0EDC3463FC}" type="pres">
      <dgm:prSet presAssocID="{D8FDDB60-CB6D-4F07-8FCC-0C3F0EDD5A64}" presName="compNode" presStyleCnt="0"/>
      <dgm:spPr/>
    </dgm:pt>
    <dgm:pt modelId="{57E54B5E-D336-40D7-B011-1C5A84C1AF8F}" type="pres">
      <dgm:prSet presAssocID="{D8FDDB60-CB6D-4F07-8FCC-0C3F0EDD5A64}" presName="iconBgRect" presStyleLbl="bgShp" presStyleIdx="2" presStyleCnt="4"/>
      <dgm:spPr/>
    </dgm:pt>
    <dgm:pt modelId="{DBB38CFE-3B41-4C50-994D-F8C8156893EE}" type="pres">
      <dgm:prSet presAssocID="{D8FDDB60-CB6D-4F07-8FCC-0C3F0EDD5A6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0A591D95-4971-4C18-9FD2-867707E893A7}" type="pres">
      <dgm:prSet presAssocID="{D8FDDB60-CB6D-4F07-8FCC-0C3F0EDD5A64}" presName="spaceRect" presStyleCnt="0"/>
      <dgm:spPr/>
    </dgm:pt>
    <dgm:pt modelId="{6DACE5E7-39B2-43C2-94E1-3EB380CF9832}" type="pres">
      <dgm:prSet presAssocID="{D8FDDB60-CB6D-4F07-8FCC-0C3F0EDD5A64}" presName="textRect" presStyleLbl="revTx" presStyleIdx="2" presStyleCnt="4">
        <dgm:presLayoutVars>
          <dgm:chMax val="1"/>
          <dgm:chPref val="1"/>
        </dgm:presLayoutVars>
      </dgm:prSet>
      <dgm:spPr/>
    </dgm:pt>
    <dgm:pt modelId="{9B92C18D-861C-4973-8336-F3CB8C7A8D5D}" type="pres">
      <dgm:prSet presAssocID="{1F48751D-95C7-4F35-8D63-8C568345FFE8}" presName="sibTrans" presStyleCnt="0"/>
      <dgm:spPr/>
    </dgm:pt>
    <dgm:pt modelId="{85000012-52D5-4D70-B0E0-1B3FB79D63C0}" type="pres">
      <dgm:prSet presAssocID="{98C31821-4307-42A1-8225-636CBB6E8FAC}" presName="compNode" presStyleCnt="0"/>
      <dgm:spPr/>
    </dgm:pt>
    <dgm:pt modelId="{5E9FDE2D-6AD5-4DBF-B256-C20D89BA73B2}" type="pres">
      <dgm:prSet presAssocID="{98C31821-4307-42A1-8225-636CBB6E8FAC}" presName="iconBgRect" presStyleLbl="bgShp" presStyleIdx="3" presStyleCnt="4"/>
      <dgm:spPr/>
    </dgm:pt>
    <dgm:pt modelId="{5335C837-353D-4A71-A6FD-787743506B92}" type="pres">
      <dgm:prSet presAssocID="{98C31821-4307-42A1-8225-636CBB6E8FA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ard Room"/>
        </a:ext>
      </dgm:extLst>
    </dgm:pt>
    <dgm:pt modelId="{DA91A934-EE93-4F50-8990-9C596F7399AF}" type="pres">
      <dgm:prSet presAssocID="{98C31821-4307-42A1-8225-636CBB6E8FAC}" presName="spaceRect" presStyleCnt="0"/>
      <dgm:spPr/>
    </dgm:pt>
    <dgm:pt modelId="{B5903C85-F4EE-45E5-AA3C-D23082BE593C}" type="pres">
      <dgm:prSet presAssocID="{98C31821-4307-42A1-8225-636CBB6E8FAC}" presName="textRect" presStyleLbl="revTx" presStyleIdx="3" presStyleCnt="4">
        <dgm:presLayoutVars>
          <dgm:chMax val="1"/>
          <dgm:chPref val="1"/>
        </dgm:presLayoutVars>
      </dgm:prSet>
      <dgm:spPr/>
    </dgm:pt>
  </dgm:ptLst>
  <dgm:cxnLst>
    <dgm:cxn modelId="{5660DC00-5FD1-47D9-9E9B-0D5AA788DB9F}" type="presOf" srcId="{D8FDDB60-CB6D-4F07-8FCC-0C3F0EDD5A64}" destId="{6DACE5E7-39B2-43C2-94E1-3EB380CF9832}" srcOrd="0" destOrd="0" presId="urn:microsoft.com/office/officeart/2018/5/layout/IconCircleLabelList"/>
    <dgm:cxn modelId="{79E7031C-5C86-4844-BB99-5CBBF0EB8262}" type="presOf" srcId="{78C67B12-B9BF-450B-96D4-E3B11A561DFA}" destId="{B9686DC6-8F7D-4B64-BE53-EEF14820629D}" srcOrd="0" destOrd="0" presId="urn:microsoft.com/office/officeart/2018/5/layout/IconCircleLabelList"/>
    <dgm:cxn modelId="{9BAAB63C-9AFD-4B74-B751-07F8FC2B3204}" srcId="{78C67B12-B9BF-450B-96D4-E3B11A561DFA}" destId="{98C31821-4307-42A1-8225-636CBB6E8FAC}" srcOrd="3" destOrd="0" parTransId="{3793E12A-8242-4054-8BD6-67548B24EFB0}" sibTransId="{C1D538C1-0EC2-43E2-8D3A-1E1C8CCC9F49}"/>
    <dgm:cxn modelId="{EE240E55-31CB-4211-8F6B-0CC54DB49C68}" srcId="{78C67B12-B9BF-450B-96D4-E3B11A561DFA}" destId="{CA9BBD27-261E-4004-A961-2AA9DCE9317A}" srcOrd="1" destOrd="0" parTransId="{3D392327-A419-4B21-B776-003C34B9A442}" sibTransId="{81DEDC56-5187-4EA7-9767-2790347D7FD4}"/>
    <dgm:cxn modelId="{92229276-F028-461F-BEB9-4FAD452DB8CE}" type="presOf" srcId="{CA9BBD27-261E-4004-A961-2AA9DCE9317A}" destId="{E76AC2DA-B714-43F4-8E81-F65E2F8DCC46}" srcOrd="0" destOrd="0" presId="urn:microsoft.com/office/officeart/2018/5/layout/IconCircleLabelList"/>
    <dgm:cxn modelId="{99131DA4-DF4E-48FC-BFC0-E3D504461681}" srcId="{78C67B12-B9BF-450B-96D4-E3B11A561DFA}" destId="{969D6CAA-CE53-4C4C-BEAF-7896C6D36B42}" srcOrd="0" destOrd="0" parTransId="{527F38D5-D704-4A21-B518-E3CC95BBF1EA}" sibTransId="{A457EA67-DDEC-4A27-B757-1D96116148DD}"/>
    <dgm:cxn modelId="{19FCEDBF-604B-44FD-8D1D-BBB7A5B4BE63}" type="presOf" srcId="{98C31821-4307-42A1-8225-636CBB6E8FAC}" destId="{B5903C85-F4EE-45E5-AA3C-D23082BE593C}" srcOrd="0" destOrd="0" presId="urn:microsoft.com/office/officeart/2018/5/layout/IconCircleLabelList"/>
    <dgm:cxn modelId="{3A20FDC0-3CF1-4260-8191-E51E1F06AA20}" type="presOf" srcId="{969D6CAA-CE53-4C4C-BEAF-7896C6D36B42}" destId="{B5C76D4A-691D-41CA-A068-712D595C97AB}" srcOrd="0" destOrd="0" presId="urn:microsoft.com/office/officeart/2018/5/layout/IconCircleLabelList"/>
    <dgm:cxn modelId="{41A4B8CE-B8F7-4A81-A461-234197F2A614}" srcId="{78C67B12-B9BF-450B-96D4-E3B11A561DFA}" destId="{D8FDDB60-CB6D-4F07-8FCC-0C3F0EDD5A64}" srcOrd="2" destOrd="0" parTransId="{857692CE-AEC5-4D4D-B1A1-9BF3BE23B0F0}" sibTransId="{1F48751D-95C7-4F35-8D63-8C568345FFE8}"/>
    <dgm:cxn modelId="{31D567A5-69CD-4BA6-BE7A-995789A3CC37}" type="presParOf" srcId="{B9686DC6-8F7D-4B64-BE53-EEF14820629D}" destId="{8FE59D19-11A1-46E4-9009-F529D03592B8}" srcOrd="0" destOrd="0" presId="urn:microsoft.com/office/officeart/2018/5/layout/IconCircleLabelList"/>
    <dgm:cxn modelId="{1C8A19D8-281E-4396-9A90-B44FE3038824}" type="presParOf" srcId="{8FE59D19-11A1-46E4-9009-F529D03592B8}" destId="{835B4EC4-11AE-4FD4-9029-3BD384E3B38A}" srcOrd="0" destOrd="0" presId="urn:microsoft.com/office/officeart/2018/5/layout/IconCircleLabelList"/>
    <dgm:cxn modelId="{D21624A0-C031-4A5B-B3E5-EFFE4F97EA5C}" type="presParOf" srcId="{8FE59D19-11A1-46E4-9009-F529D03592B8}" destId="{FABF9F3E-9A0E-4AE1-A506-7D0400918D74}" srcOrd="1" destOrd="0" presId="urn:microsoft.com/office/officeart/2018/5/layout/IconCircleLabelList"/>
    <dgm:cxn modelId="{C441EFBF-D7D8-4568-AC26-4483359550AE}" type="presParOf" srcId="{8FE59D19-11A1-46E4-9009-F529D03592B8}" destId="{2A5FD858-E5F2-4D34-95B6-AE2B8F63DD45}" srcOrd="2" destOrd="0" presId="urn:microsoft.com/office/officeart/2018/5/layout/IconCircleLabelList"/>
    <dgm:cxn modelId="{E223E160-5377-4BB0-A729-AFBC7F4BF441}" type="presParOf" srcId="{8FE59D19-11A1-46E4-9009-F529D03592B8}" destId="{B5C76D4A-691D-41CA-A068-712D595C97AB}" srcOrd="3" destOrd="0" presId="urn:microsoft.com/office/officeart/2018/5/layout/IconCircleLabelList"/>
    <dgm:cxn modelId="{9FD24C3A-44B0-4A6A-B447-732CC4D9DB7D}" type="presParOf" srcId="{B9686DC6-8F7D-4B64-BE53-EEF14820629D}" destId="{BB3E2C60-C828-4281-9C72-91BAE1A76D3D}" srcOrd="1" destOrd="0" presId="urn:microsoft.com/office/officeart/2018/5/layout/IconCircleLabelList"/>
    <dgm:cxn modelId="{18559B12-82E9-49A1-946A-6382CFF527E3}" type="presParOf" srcId="{B9686DC6-8F7D-4B64-BE53-EEF14820629D}" destId="{6F6763FE-F653-45C6-8B09-CAB5120AE6A6}" srcOrd="2" destOrd="0" presId="urn:microsoft.com/office/officeart/2018/5/layout/IconCircleLabelList"/>
    <dgm:cxn modelId="{5747B76F-2DD5-4E37-9D95-362B47CE8C73}" type="presParOf" srcId="{6F6763FE-F653-45C6-8B09-CAB5120AE6A6}" destId="{101A147F-64DC-4C24-AB6B-84C4369894F0}" srcOrd="0" destOrd="0" presId="urn:microsoft.com/office/officeart/2018/5/layout/IconCircleLabelList"/>
    <dgm:cxn modelId="{150899CE-981E-485E-B8A9-E47B14A8CB3B}" type="presParOf" srcId="{6F6763FE-F653-45C6-8B09-CAB5120AE6A6}" destId="{9D68E972-5E2F-43E2-89D9-AA54B41D4E12}" srcOrd="1" destOrd="0" presId="urn:microsoft.com/office/officeart/2018/5/layout/IconCircleLabelList"/>
    <dgm:cxn modelId="{6C2A3A93-C2FD-47E0-B183-859D859ED281}" type="presParOf" srcId="{6F6763FE-F653-45C6-8B09-CAB5120AE6A6}" destId="{F69B59A9-E060-40B5-B6FB-F4053BCA031E}" srcOrd="2" destOrd="0" presId="urn:microsoft.com/office/officeart/2018/5/layout/IconCircleLabelList"/>
    <dgm:cxn modelId="{79C9EEA5-06C4-4FD4-851E-343EC52CBE5D}" type="presParOf" srcId="{6F6763FE-F653-45C6-8B09-CAB5120AE6A6}" destId="{E76AC2DA-B714-43F4-8E81-F65E2F8DCC46}" srcOrd="3" destOrd="0" presId="urn:microsoft.com/office/officeart/2018/5/layout/IconCircleLabelList"/>
    <dgm:cxn modelId="{9C93B2AD-2803-4B76-BD08-168C1BBABD46}" type="presParOf" srcId="{B9686DC6-8F7D-4B64-BE53-EEF14820629D}" destId="{6DC0100D-FE12-4A43-9F8A-3872F8635A9B}" srcOrd="3" destOrd="0" presId="urn:microsoft.com/office/officeart/2018/5/layout/IconCircleLabelList"/>
    <dgm:cxn modelId="{48331806-1F22-4F43-A29E-6ED5622DC439}" type="presParOf" srcId="{B9686DC6-8F7D-4B64-BE53-EEF14820629D}" destId="{9CBE113E-CDFC-44DB-9FE3-AE0EDC3463FC}" srcOrd="4" destOrd="0" presId="urn:microsoft.com/office/officeart/2018/5/layout/IconCircleLabelList"/>
    <dgm:cxn modelId="{187748DE-5078-4F92-A578-06C88F101251}" type="presParOf" srcId="{9CBE113E-CDFC-44DB-9FE3-AE0EDC3463FC}" destId="{57E54B5E-D336-40D7-B011-1C5A84C1AF8F}" srcOrd="0" destOrd="0" presId="urn:microsoft.com/office/officeart/2018/5/layout/IconCircleLabelList"/>
    <dgm:cxn modelId="{F674738E-36B2-49F4-94A4-7F04F8B77450}" type="presParOf" srcId="{9CBE113E-CDFC-44DB-9FE3-AE0EDC3463FC}" destId="{DBB38CFE-3B41-4C50-994D-F8C8156893EE}" srcOrd="1" destOrd="0" presId="urn:microsoft.com/office/officeart/2018/5/layout/IconCircleLabelList"/>
    <dgm:cxn modelId="{B49144A0-B0A4-4F96-A78D-E2CFADC142B8}" type="presParOf" srcId="{9CBE113E-CDFC-44DB-9FE3-AE0EDC3463FC}" destId="{0A591D95-4971-4C18-9FD2-867707E893A7}" srcOrd="2" destOrd="0" presId="urn:microsoft.com/office/officeart/2018/5/layout/IconCircleLabelList"/>
    <dgm:cxn modelId="{1B1625B5-FF76-4086-B45E-B117BD3CAF4E}" type="presParOf" srcId="{9CBE113E-CDFC-44DB-9FE3-AE0EDC3463FC}" destId="{6DACE5E7-39B2-43C2-94E1-3EB380CF9832}" srcOrd="3" destOrd="0" presId="urn:microsoft.com/office/officeart/2018/5/layout/IconCircleLabelList"/>
    <dgm:cxn modelId="{A9806033-02F1-481D-BD5D-BF5DAA86788C}" type="presParOf" srcId="{B9686DC6-8F7D-4B64-BE53-EEF14820629D}" destId="{9B92C18D-861C-4973-8336-F3CB8C7A8D5D}" srcOrd="5" destOrd="0" presId="urn:microsoft.com/office/officeart/2018/5/layout/IconCircleLabelList"/>
    <dgm:cxn modelId="{C62C45B2-7D89-4D38-9112-BD33A28EAE31}" type="presParOf" srcId="{B9686DC6-8F7D-4B64-BE53-EEF14820629D}" destId="{85000012-52D5-4D70-B0E0-1B3FB79D63C0}" srcOrd="6" destOrd="0" presId="urn:microsoft.com/office/officeart/2018/5/layout/IconCircleLabelList"/>
    <dgm:cxn modelId="{8F9A6B85-BF0B-4A84-8EC8-E3D0136DFAB9}" type="presParOf" srcId="{85000012-52D5-4D70-B0E0-1B3FB79D63C0}" destId="{5E9FDE2D-6AD5-4DBF-B256-C20D89BA73B2}" srcOrd="0" destOrd="0" presId="urn:microsoft.com/office/officeart/2018/5/layout/IconCircleLabelList"/>
    <dgm:cxn modelId="{BE8DBB80-B332-455B-8279-A01C514C9FE3}" type="presParOf" srcId="{85000012-52D5-4D70-B0E0-1B3FB79D63C0}" destId="{5335C837-353D-4A71-A6FD-787743506B92}" srcOrd="1" destOrd="0" presId="urn:microsoft.com/office/officeart/2018/5/layout/IconCircleLabelList"/>
    <dgm:cxn modelId="{C2CA99FF-2A3A-4D82-A31D-9FD04F9AE927}" type="presParOf" srcId="{85000012-52D5-4D70-B0E0-1B3FB79D63C0}" destId="{DA91A934-EE93-4F50-8990-9C596F7399AF}" srcOrd="2" destOrd="0" presId="urn:microsoft.com/office/officeart/2018/5/layout/IconCircleLabelList"/>
    <dgm:cxn modelId="{452E4285-8054-43D9-90A7-24971B0D1B22}" type="presParOf" srcId="{85000012-52D5-4D70-B0E0-1B3FB79D63C0}" destId="{B5903C85-F4EE-45E5-AA3C-D23082BE593C}"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07AC57-3E69-4FBA-B7A8-C9EA282311F3}">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B4658D-D919-400A-94ED-BFF9D17CAF02}">
      <dsp:nvSpPr>
        <dsp:cNvPr id="0" name=""/>
        <dsp:cNvSpPr/>
      </dsp:nvSpPr>
      <dsp:spPr>
        <a:xfrm>
          <a:off x="395445" y="1002230"/>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243C9C-34F2-4F91-B086-FB8162D3F47E}">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33450">
            <a:lnSpc>
              <a:spcPct val="90000"/>
            </a:lnSpc>
            <a:spcBef>
              <a:spcPct val="0"/>
            </a:spcBef>
            <a:spcAft>
              <a:spcPct val="35000"/>
            </a:spcAft>
            <a:buNone/>
          </a:pPr>
          <a:r>
            <a:rPr lang="en-US" sz="2100" kern="1200"/>
            <a:t>This is Bank loan of Customers project where we were provided with 2 datasets with .csv extension and .xlsx extension files having 39k rows each and the objective was to analyze the growth that bank got within given years in loans.</a:t>
          </a:r>
        </a:p>
      </dsp:txBody>
      <dsp:txXfrm>
        <a:off x="1509882" y="708097"/>
        <a:ext cx="9005717" cy="1307257"/>
      </dsp:txXfrm>
    </dsp:sp>
    <dsp:sp modelId="{6AF303C9-7593-4D18-870D-46AEC4E1B844}">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158327-A9B2-4DFE-892D-B5DF05FE70D9}">
      <dsp:nvSpPr>
        <dsp:cNvPr id="0" name=""/>
        <dsp:cNvSpPr/>
      </dsp:nvSpPr>
      <dsp:spPr>
        <a:xfrm>
          <a:off x="395445" y="2636302"/>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DD2D72-8A0A-45F8-BE96-D8C0DF4FEBED}">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33450">
            <a:lnSpc>
              <a:spcPct val="90000"/>
            </a:lnSpc>
            <a:spcBef>
              <a:spcPct val="0"/>
            </a:spcBef>
            <a:spcAft>
              <a:spcPct val="35000"/>
            </a:spcAft>
            <a:buNone/>
          </a:pPr>
          <a:r>
            <a:rPr lang="en-US" sz="2100" kern="1200" dirty="0"/>
            <a:t>We used MS Excel Power query for analyzing, cleaning and removing duplicates from dataset and prepared dashboard using Tableau and </a:t>
          </a:r>
          <a:r>
            <a:rPr lang="en-US" sz="2100" kern="1200" dirty="0" err="1"/>
            <a:t>PowerBI</a:t>
          </a:r>
          <a:r>
            <a:rPr lang="en-US" sz="2100" kern="1200" dirty="0"/>
            <a:t> tools where we did calculations, merging and prepared interactive dashboards.</a:t>
          </a:r>
        </a:p>
      </dsp:txBody>
      <dsp:txXfrm>
        <a:off x="1509882" y="2342169"/>
        <a:ext cx="9005717" cy="1307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1DC551-AB74-4879-8523-5CEDFD6B9F4F}">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F317B8-5383-4F2E-8567-9EDEB5B824F3}">
      <dsp:nvSpPr>
        <dsp:cNvPr id="0" name=""/>
        <dsp:cNvSpPr/>
      </dsp:nvSpPr>
      <dsp:spPr>
        <a:xfrm>
          <a:off x="277554" y="21075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630072-9100-4C9F-8014-BE076F126CBC}">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kern="1200"/>
            <a:t>KPI1 </a:t>
          </a:r>
          <a:r>
            <a:rPr lang="en-US" sz="1900" kern="1200"/>
            <a:t>- </a:t>
          </a:r>
          <a:r>
            <a:rPr lang="en-IN" sz="1900" kern="1200"/>
            <a:t>Year wise loan amount Stats</a:t>
          </a:r>
          <a:endParaRPr lang="en-US" sz="1900" kern="1200"/>
        </a:p>
      </dsp:txBody>
      <dsp:txXfrm>
        <a:off x="1059754" y="4307"/>
        <a:ext cx="5304469" cy="917536"/>
      </dsp:txXfrm>
    </dsp:sp>
    <dsp:sp modelId="{5E009B64-93D0-4580-9E13-B54DDE06EE43}">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12424A-96E4-4DAA-91D2-3A19B65690F3}">
      <dsp:nvSpPr>
        <dsp:cNvPr id="0" name=""/>
        <dsp:cNvSpPr/>
      </dsp:nvSpPr>
      <dsp:spPr>
        <a:xfrm>
          <a:off x="277554" y="135767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4C4C53-BDA8-4EEE-B5F2-9C9CAB5DE37D}">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b="1" kern="1200"/>
            <a:t>KPI 2 </a:t>
          </a:r>
          <a:r>
            <a:rPr lang="en-IN" sz="1900" kern="1200"/>
            <a:t>- Grade and sub grade wise revol_bal</a:t>
          </a:r>
          <a:endParaRPr lang="en-US" sz="1900" kern="1200"/>
        </a:p>
      </dsp:txBody>
      <dsp:txXfrm>
        <a:off x="1059754" y="1151227"/>
        <a:ext cx="5304469" cy="917536"/>
      </dsp:txXfrm>
    </dsp:sp>
    <dsp:sp modelId="{E698FC58-CC52-4ACA-B510-F57524750F63}">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2A3E41-BA15-45CC-A95A-04333AAA1A89}">
      <dsp:nvSpPr>
        <dsp:cNvPr id="0" name=""/>
        <dsp:cNvSpPr/>
      </dsp:nvSpPr>
      <dsp:spPr>
        <a:xfrm>
          <a:off x="277554" y="250459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F72AC8-FB27-430B-B2A0-223D43C2121D}">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b="1" kern="1200"/>
            <a:t>KPI</a:t>
          </a:r>
          <a:r>
            <a:rPr lang="en-IN" sz="1900" kern="1200"/>
            <a:t> </a:t>
          </a:r>
          <a:r>
            <a:rPr lang="en-IN" sz="1900" b="1" kern="1200"/>
            <a:t>3</a:t>
          </a:r>
          <a:r>
            <a:rPr lang="en-IN" sz="1900" kern="1200"/>
            <a:t> - Total Payment for Verified Status Vs Total Payment for Non - Verified  Status</a:t>
          </a:r>
          <a:endParaRPr lang="en-US" sz="1900" kern="1200"/>
        </a:p>
      </dsp:txBody>
      <dsp:txXfrm>
        <a:off x="1059754" y="2298147"/>
        <a:ext cx="5304469" cy="917536"/>
      </dsp:txXfrm>
    </dsp:sp>
    <dsp:sp modelId="{E56066D9-8F16-4476-ABFC-4C5F5D7BA436}">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54A65B-332C-4352-9FE1-71CAA222510C}">
      <dsp:nvSpPr>
        <dsp:cNvPr id="0" name=""/>
        <dsp:cNvSpPr/>
      </dsp:nvSpPr>
      <dsp:spPr>
        <a:xfrm>
          <a:off x="277554" y="365151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73781B-A829-4BE6-AAC4-72B741ABED15}">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b="1" kern="1200"/>
            <a:t>KPI 4 </a:t>
          </a:r>
          <a:r>
            <a:rPr lang="en-IN" sz="1900" kern="1200"/>
            <a:t>- State wise and month wise loan status</a:t>
          </a:r>
          <a:endParaRPr lang="en-US" sz="1900" kern="1200"/>
        </a:p>
      </dsp:txBody>
      <dsp:txXfrm>
        <a:off x="1059754" y="3445068"/>
        <a:ext cx="5304469" cy="917536"/>
      </dsp:txXfrm>
    </dsp:sp>
    <dsp:sp modelId="{CE5AA206-04D0-4DE8-966D-C33075F7712B}">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796CA2-2CE0-4E89-A372-C551ECF26CE5}">
      <dsp:nvSpPr>
        <dsp:cNvPr id="0" name=""/>
        <dsp:cNvSpPr/>
      </dsp:nvSpPr>
      <dsp:spPr>
        <a:xfrm>
          <a:off x="277554" y="479843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846832-BF48-46E1-A3F5-B879B5D38ABF}">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b="1" kern="1200"/>
            <a:t>KPI 5</a:t>
          </a:r>
          <a:r>
            <a:rPr lang="en-IN" sz="1900" kern="1200"/>
            <a:t> - Home ownership Vs last payment date       stats</a:t>
          </a:r>
          <a:endParaRPr lang="en-US" sz="1900" kern="1200"/>
        </a:p>
      </dsp:txBody>
      <dsp:txXfrm>
        <a:off x="1059754" y="4591988"/>
        <a:ext cx="5304469" cy="9175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5B4EC4-11AE-4FD4-9029-3BD384E3B38A}">
      <dsp:nvSpPr>
        <dsp:cNvPr id="0" name=""/>
        <dsp:cNvSpPr/>
      </dsp:nvSpPr>
      <dsp:spPr>
        <a:xfrm>
          <a:off x="973190" y="751742"/>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BF9F3E-9A0E-4AE1-A506-7D0400918D74}">
      <dsp:nvSpPr>
        <dsp:cNvPr id="0" name=""/>
        <dsp:cNvSpPr/>
      </dsp:nvSpPr>
      <dsp:spPr>
        <a:xfrm>
          <a:off x="1242597" y="1021150"/>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C76D4A-691D-41CA-A068-712D595C97AB}">
      <dsp:nvSpPr>
        <dsp:cNvPr id="0" name=""/>
        <dsp:cNvSpPr/>
      </dsp:nvSpPr>
      <dsp:spPr>
        <a:xfrm>
          <a:off x="569079" y="2409632"/>
          <a:ext cx="2072362"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baseline="0" dirty="0"/>
            <a:t>1. How to implement the ETL process which is Extract Transform &amp;  Load and also handled a huge dataset with 39000 + records.</a:t>
          </a:r>
          <a:endParaRPr lang="en-US" sz="1100" kern="1200" dirty="0"/>
        </a:p>
      </dsp:txBody>
      <dsp:txXfrm>
        <a:off x="569079" y="2409632"/>
        <a:ext cx="2072362" cy="787500"/>
      </dsp:txXfrm>
    </dsp:sp>
    <dsp:sp modelId="{101A147F-64DC-4C24-AB6B-84C4369894F0}">
      <dsp:nvSpPr>
        <dsp:cNvPr id="0" name=""/>
        <dsp:cNvSpPr/>
      </dsp:nvSpPr>
      <dsp:spPr>
        <a:xfrm>
          <a:off x="3408216" y="751742"/>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68E972-5E2F-43E2-89D9-AA54B41D4E12}">
      <dsp:nvSpPr>
        <dsp:cNvPr id="0" name=""/>
        <dsp:cNvSpPr/>
      </dsp:nvSpPr>
      <dsp:spPr>
        <a:xfrm>
          <a:off x="3677623" y="1021150"/>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6AC2DA-B714-43F4-8E81-F65E2F8DCC46}">
      <dsp:nvSpPr>
        <dsp:cNvPr id="0" name=""/>
        <dsp:cNvSpPr/>
      </dsp:nvSpPr>
      <dsp:spPr>
        <a:xfrm>
          <a:off x="3004105" y="2409632"/>
          <a:ext cx="2072362"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baseline="0"/>
            <a:t>2. Drawing meaningful insights from the data and presenting it.</a:t>
          </a:r>
          <a:endParaRPr lang="en-US" sz="1100" kern="1200"/>
        </a:p>
      </dsp:txBody>
      <dsp:txXfrm>
        <a:off x="3004105" y="2409632"/>
        <a:ext cx="2072362" cy="787500"/>
      </dsp:txXfrm>
    </dsp:sp>
    <dsp:sp modelId="{57E54B5E-D336-40D7-B011-1C5A84C1AF8F}">
      <dsp:nvSpPr>
        <dsp:cNvPr id="0" name=""/>
        <dsp:cNvSpPr/>
      </dsp:nvSpPr>
      <dsp:spPr>
        <a:xfrm>
          <a:off x="5843242" y="751742"/>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B38CFE-3B41-4C50-994D-F8C8156893EE}">
      <dsp:nvSpPr>
        <dsp:cNvPr id="0" name=""/>
        <dsp:cNvSpPr/>
      </dsp:nvSpPr>
      <dsp:spPr>
        <a:xfrm>
          <a:off x="6112649" y="1021150"/>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ACE5E7-39B2-43C2-94E1-3EB380CF9832}">
      <dsp:nvSpPr>
        <dsp:cNvPr id="0" name=""/>
        <dsp:cNvSpPr/>
      </dsp:nvSpPr>
      <dsp:spPr>
        <a:xfrm>
          <a:off x="5439131" y="2409632"/>
          <a:ext cx="2072362"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baseline="0"/>
            <a:t>3. Understanding of the features and USP of each of the software.</a:t>
          </a:r>
          <a:endParaRPr lang="en-US" sz="1100" kern="1200"/>
        </a:p>
      </dsp:txBody>
      <dsp:txXfrm>
        <a:off x="5439131" y="2409632"/>
        <a:ext cx="2072362" cy="787500"/>
      </dsp:txXfrm>
    </dsp:sp>
    <dsp:sp modelId="{5E9FDE2D-6AD5-4DBF-B256-C20D89BA73B2}">
      <dsp:nvSpPr>
        <dsp:cNvPr id="0" name=""/>
        <dsp:cNvSpPr/>
      </dsp:nvSpPr>
      <dsp:spPr>
        <a:xfrm>
          <a:off x="8278268" y="751742"/>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35C837-353D-4A71-A6FD-787743506B92}">
      <dsp:nvSpPr>
        <dsp:cNvPr id="0" name=""/>
        <dsp:cNvSpPr/>
      </dsp:nvSpPr>
      <dsp:spPr>
        <a:xfrm>
          <a:off x="8547675" y="1021150"/>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903C85-F4EE-45E5-AA3C-D23082BE593C}">
      <dsp:nvSpPr>
        <dsp:cNvPr id="0" name=""/>
        <dsp:cNvSpPr/>
      </dsp:nvSpPr>
      <dsp:spPr>
        <a:xfrm>
          <a:off x="7874157" y="2409632"/>
          <a:ext cx="2072362"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baseline="0"/>
            <a:t>4. Importance of Teamwork.</a:t>
          </a:r>
          <a:endParaRPr lang="en-US" sz="1100" kern="1200"/>
        </a:p>
      </dsp:txBody>
      <dsp:txXfrm>
        <a:off x="7874157" y="2409632"/>
        <a:ext cx="2072362" cy="7875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54C32-A810-5DDB-1B52-A9E3854A7E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D86DD8-C276-0A44-73C6-D9E83EB244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E88F87-4C35-2B25-296F-DB5F50746DEC}"/>
              </a:ext>
            </a:extLst>
          </p:cNvPr>
          <p:cNvSpPr>
            <a:spLocks noGrp="1"/>
          </p:cNvSpPr>
          <p:nvPr>
            <p:ph type="dt" sz="half" idx="10"/>
          </p:nvPr>
        </p:nvSpPr>
        <p:spPr/>
        <p:txBody>
          <a:bodyPr/>
          <a:lstStyle/>
          <a:p>
            <a:fld id="{02AC24A9-CCB6-4F8D-B8DB-C2F3692CFA5A}" type="datetimeFigureOut">
              <a:rPr lang="en-US" smtClean="0"/>
              <a:t>6/27/2026</a:t>
            </a:fld>
            <a:endParaRPr lang="en-US" dirty="0"/>
          </a:p>
        </p:txBody>
      </p:sp>
      <p:sp>
        <p:nvSpPr>
          <p:cNvPr id="5" name="Footer Placeholder 4">
            <a:extLst>
              <a:ext uri="{FF2B5EF4-FFF2-40B4-BE49-F238E27FC236}">
                <a16:creationId xmlns:a16="http://schemas.microsoft.com/office/drawing/2014/main" id="{5BB55BF2-7536-65DD-7ED6-C085230DF8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80F893-89B1-8C10-D68C-210EAC11BDA3}"/>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3836581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0EB0-DD57-E914-CFE1-47280DD491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AD56B6-D0C8-93B8-A29E-D08CB7F711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DC01AD-EEA0-C19D-E93D-46A08A044607}"/>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5" name="Footer Placeholder 4">
            <a:extLst>
              <a:ext uri="{FF2B5EF4-FFF2-40B4-BE49-F238E27FC236}">
                <a16:creationId xmlns:a16="http://schemas.microsoft.com/office/drawing/2014/main" id="{AA529249-17FD-DCD1-EFD9-F6B13E91D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A855B6-DCB2-1F3B-65F6-B69D83AED388}"/>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61232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01A5F-A3E1-1745-00C3-D305F1B4FD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8392C7-A619-4696-D60C-391B6FC0A9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FFCB91-B140-05C3-305D-E9DF74040B50}"/>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5" name="Footer Placeholder 4">
            <a:extLst>
              <a:ext uri="{FF2B5EF4-FFF2-40B4-BE49-F238E27FC236}">
                <a16:creationId xmlns:a16="http://schemas.microsoft.com/office/drawing/2014/main" id="{E17CC919-6386-93E6-D623-6338B4D46D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8C3D6-E920-228F-47FE-C302FD07F7B6}"/>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4301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946AF-BEC8-7DCC-7438-3CEAFB7696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B7E4F0-E036-6772-3C99-DC948D54CF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68263F-6D73-17D9-FFF1-D392F0A6A8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502CDC-E9FB-A261-BC46-E07DD66CED31}"/>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6" name="Footer Placeholder 5">
            <a:extLst>
              <a:ext uri="{FF2B5EF4-FFF2-40B4-BE49-F238E27FC236}">
                <a16:creationId xmlns:a16="http://schemas.microsoft.com/office/drawing/2014/main" id="{5D256399-3721-8128-050C-6EDB7FE9E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442CE-0815-8001-7A9B-E300A6BE70C2}"/>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88696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506B-C514-E3B2-BE6E-3EAA7752BC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E01EEE-0E75-6B94-BDB2-175E34B569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601352-561E-7B43-5DAC-7ADFC01A0A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453918-D81E-23D4-7A4E-B12506EC9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675824-A257-3E39-8723-22DCE00595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9A733-8B41-85A5-D253-13F8B1020D0D}"/>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8" name="Footer Placeholder 7">
            <a:extLst>
              <a:ext uri="{FF2B5EF4-FFF2-40B4-BE49-F238E27FC236}">
                <a16:creationId xmlns:a16="http://schemas.microsoft.com/office/drawing/2014/main" id="{C5386711-6B96-73D0-3F8A-93A97A6224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339483-7089-D98C-54E2-8E72CAB9AF09}"/>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98137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1D661-6C38-F6BC-AD5E-627811383B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38D866-C5D1-B724-71F9-C7A0388F6186}"/>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4" name="Footer Placeholder 3">
            <a:extLst>
              <a:ext uri="{FF2B5EF4-FFF2-40B4-BE49-F238E27FC236}">
                <a16:creationId xmlns:a16="http://schemas.microsoft.com/office/drawing/2014/main" id="{AE383A66-4657-48DA-E34B-EAA27C3E57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D58BA8-AFB7-1AD6-C346-FDD2DAAECCE4}"/>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99403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C8F230-E142-5FC0-3711-29595A15EC75}"/>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3" name="Footer Placeholder 2">
            <a:extLst>
              <a:ext uri="{FF2B5EF4-FFF2-40B4-BE49-F238E27FC236}">
                <a16:creationId xmlns:a16="http://schemas.microsoft.com/office/drawing/2014/main" id="{083C5454-6D81-DCC7-2865-DBDDCB6CDE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89EAE2-965B-EB72-DBE6-149630232042}"/>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76162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39816-DF9F-2A51-5704-06AB3F7B6B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F680E3-C343-CB27-F14B-AF3C697EC6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108441-082E-3799-64E8-43BE0FA1EA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7F722-9DA1-EECE-B19D-DE2BB52C2FF1}"/>
              </a:ext>
            </a:extLst>
          </p:cNvPr>
          <p:cNvSpPr>
            <a:spLocks noGrp="1"/>
          </p:cNvSpPr>
          <p:nvPr>
            <p:ph type="dt" sz="half" idx="10"/>
          </p:nvPr>
        </p:nvSpPr>
        <p:spPr/>
        <p:txBody>
          <a:bodyPr/>
          <a:lstStyle/>
          <a:p>
            <a:fld id="{02AC24A9-CCB6-4F8D-B8DB-C2F3692CFA5A}" type="datetimeFigureOut">
              <a:rPr lang="en-US" smtClean="0"/>
              <a:t>6/27/2026</a:t>
            </a:fld>
            <a:endParaRPr lang="en-US" dirty="0"/>
          </a:p>
        </p:txBody>
      </p:sp>
      <p:sp>
        <p:nvSpPr>
          <p:cNvPr id="6" name="Footer Placeholder 5">
            <a:extLst>
              <a:ext uri="{FF2B5EF4-FFF2-40B4-BE49-F238E27FC236}">
                <a16:creationId xmlns:a16="http://schemas.microsoft.com/office/drawing/2014/main" id="{573E4856-8EF4-619F-1C67-93E52BE08C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92CE8-FA47-1DED-0796-E687AD69C0D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834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26075-009B-7D1C-AA25-EE44F367BB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2A3763-B856-E472-96F8-DC8C6795BF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6789A9-A369-C26B-10EB-4F110D91F6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8CB085-3EA6-B5FC-AD17-C710C9EAD278}"/>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6" name="Footer Placeholder 5">
            <a:extLst>
              <a:ext uri="{FF2B5EF4-FFF2-40B4-BE49-F238E27FC236}">
                <a16:creationId xmlns:a16="http://schemas.microsoft.com/office/drawing/2014/main" id="{05320E86-720F-B1DD-BE25-1ACD63735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C1FCC1-F3A4-92C2-C46D-E8627856E6CA}"/>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77001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0F0E-7D17-8BF7-34C8-1AD1ED3DA2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D9AA73-186D-9850-E284-8CE0A174C9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5B5D7-BE18-7BB7-5857-DC7ECA43DD20}"/>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5" name="Footer Placeholder 4">
            <a:extLst>
              <a:ext uri="{FF2B5EF4-FFF2-40B4-BE49-F238E27FC236}">
                <a16:creationId xmlns:a16="http://schemas.microsoft.com/office/drawing/2014/main" id="{BC06FC17-4C4C-A4A3-A121-D7935BA57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26457-E2FD-6B58-F43D-4458213C72E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70526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B47FF6-CDBA-C46F-7EF7-25C6932374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CA5F6C-8067-E05A-DD97-31625FE7DA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EB1F4C-D8A8-9AB4-2C95-BD937A8A2D96}"/>
              </a:ext>
            </a:extLst>
          </p:cNvPr>
          <p:cNvSpPr>
            <a:spLocks noGrp="1"/>
          </p:cNvSpPr>
          <p:nvPr>
            <p:ph type="dt" sz="half" idx="10"/>
          </p:nvPr>
        </p:nvSpPr>
        <p:spPr/>
        <p:txBody>
          <a:bodyPr/>
          <a:lstStyle/>
          <a:p>
            <a:fld id="{02AC24A9-CCB6-4F8D-B8DB-C2F3692CFA5A}" type="datetimeFigureOut">
              <a:rPr lang="en-US" smtClean="0"/>
              <a:t>6/27/2026</a:t>
            </a:fld>
            <a:endParaRPr lang="en-US"/>
          </a:p>
        </p:txBody>
      </p:sp>
      <p:sp>
        <p:nvSpPr>
          <p:cNvPr id="5" name="Footer Placeholder 4">
            <a:extLst>
              <a:ext uri="{FF2B5EF4-FFF2-40B4-BE49-F238E27FC236}">
                <a16:creationId xmlns:a16="http://schemas.microsoft.com/office/drawing/2014/main" id="{0B8C9AC3-5E66-85FE-06A3-33E716293C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29B360-BBAC-A3B3-1EDA-D579D40FA7F8}"/>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60228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9000"/>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2EB84A-5412-55D2-03D3-2DDE405EDC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64D135-1CDC-FDF4-11AF-F03B07C91E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3D98DC-7B25-CCAF-A7A3-8543DFFA84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6/27/2026</a:t>
            </a:fld>
            <a:endParaRPr lang="en-US"/>
          </a:p>
        </p:txBody>
      </p:sp>
      <p:sp>
        <p:nvSpPr>
          <p:cNvPr id="5" name="Footer Placeholder 4">
            <a:extLst>
              <a:ext uri="{FF2B5EF4-FFF2-40B4-BE49-F238E27FC236}">
                <a16:creationId xmlns:a16="http://schemas.microsoft.com/office/drawing/2014/main" id="{0CDD57AB-1510-92AD-9867-87A1F33E14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9C0AC8-4E6B-59B9-45BF-96C9345B13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819266916"/>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DB2CA2-F9AA-F23D-F212-86D51DE85E60}"/>
              </a:ext>
            </a:extLst>
          </p:cNvPr>
          <p:cNvSpPr>
            <a:spLocks noGrp="1"/>
          </p:cNvSpPr>
          <p:nvPr>
            <p:ph type="ctrTitle"/>
          </p:nvPr>
        </p:nvSpPr>
        <p:spPr>
          <a:xfrm>
            <a:off x="795528" y="396762"/>
            <a:ext cx="10141799" cy="1300554"/>
          </a:xfrm>
        </p:spPr>
        <p:txBody>
          <a:bodyPr vert="horz" lIns="91440" tIns="45720" rIns="91440" bIns="45720" rtlCol="0" anchor="b">
            <a:normAutofit/>
          </a:bodyPr>
          <a:lstStyle/>
          <a:p>
            <a:pPr algn="l"/>
            <a:r>
              <a:rPr lang="en-US" sz="4800" b="1" kern="1200" dirty="0">
                <a:solidFill>
                  <a:schemeClr val="tx1"/>
                </a:solidFill>
                <a:latin typeface="+mj-lt"/>
                <a:ea typeface="+mj-ea"/>
                <a:cs typeface="+mj-cs"/>
              </a:rPr>
              <a:t>EXCELR- BANKING ANALYSIS PROJECT </a:t>
            </a:r>
          </a:p>
        </p:txBody>
      </p:sp>
      <p:sp>
        <p:nvSpPr>
          <p:cNvPr id="14" name="Rectangle 13">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AC0FE954-989F-8341-A0FB-001895FF79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5295" y="2665078"/>
            <a:ext cx="5150277" cy="3433518"/>
          </a:xfrm>
          <a:prstGeom prst="rect">
            <a:avLst/>
          </a:prstGeom>
        </p:spPr>
      </p:pic>
      <p:sp>
        <p:nvSpPr>
          <p:cNvPr id="3" name="Subtitle 2">
            <a:extLst>
              <a:ext uri="{FF2B5EF4-FFF2-40B4-BE49-F238E27FC236}">
                <a16:creationId xmlns:a16="http://schemas.microsoft.com/office/drawing/2014/main" id="{D11336D8-6E0C-7423-B0F9-5067DBCB78C0}"/>
              </a:ext>
            </a:extLst>
          </p:cNvPr>
          <p:cNvSpPr>
            <a:spLocks noGrp="1"/>
          </p:cNvSpPr>
          <p:nvPr>
            <p:ph type="subTitle" idx="1"/>
          </p:nvPr>
        </p:nvSpPr>
        <p:spPr>
          <a:xfrm>
            <a:off x="6406429" y="2599509"/>
            <a:ext cx="4530898" cy="3639450"/>
          </a:xfrm>
        </p:spPr>
        <p:txBody>
          <a:bodyPr vert="horz" lIns="91440" tIns="45720" rIns="91440" bIns="45720" rtlCol="0" anchor="ctr">
            <a:normAutofit/>
          </a:bodyPr>
          <a:lstStyle/>
          <a:p>
            <a:pPr indent="-228600" algn="l">
              <a:buFont typeface="Arial" panose="020B0604020202020204" pitchFamily="34" charset="0"/>
              <a:buChar char="•"/>
            </a:pPr>
            <a:r>
              <a:rPr lang="en-US" sz="3200" b="1" dirty="0"/>
              <a:t>GROUP -4  :</a:t>
            </a:r>
            <a:r>
              <a:rPr lang="en-US" sz="2800" b="1" dirty="0"/>
              <a:t>Manasi Patil</a:t>
            </a:r>
          </a:p>
          <a:p>
            <a:pPr indent="-228600" algn="l">
              <a:buFont typeface="Arial" panose="020B0604020202020204" pitchFamily="34" charset="0"/>
              <a:buChar char="•"/>
            </a:pPr>
            <a:endParaRPr lang="en-US" sz="2000" b="1" dirty="0"/>
          </a:p>
        </p:txBody>
      </p:sp>
      <p:sp>
        <p:nvSpPr>
          <p:cNvPr id="18" name="Rectangle 17">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utoShape 2" descr="Data Analytics Services &amp; Solutions | Lightpoint Global">
            <a:extLst>
              <a:ext uri="{FF2B5EF4-FFF2-40B4-BE49-F238E27FC236}">
                <a16:creationId xmlns:a16="http://schemas.microsoft.com/office/drawing/2014/main" id="{95281710-C340-3223-1F9C-9402E45444D7}"/>
              </a:ext>
            </a:extLst>
          </p:cNvPr>
          <p:cNvSpPr>
            <a:spLocks noChangeAspect="1" noChangeArrowheads="1"/>
          </p:cNvSpPr>
          <p:nvPr/>
        </p:nvSpPr>
        <p:spPr bwMode="auto">
          <a:xfrm>
            <a:off x="3195484" y="528484"/>
            <a:ext cx="3052916" cy="305291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984112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8621F4-428E-7DA3-F9E8-28D33A44236F}"/>
              </a:ext>
            </a:extLst>
          </p:cNvPr>
          <p:cNvSpPr>
            <a:spLocks noGrp="1"/>
          </p:cNvSpPr>
          <p:nvPr>
            <p:ph type="title"/>
          </p:nvPr>
        </p:nvSpPr>
        <p:spPr>
          <a:xfrm>
            <a:off x="841248" y="256032"/>
            <a:ext cx="10506456" cy="1014984"/>
          </a:xfrm>
        </p:spPr>
        <p:txBody>
          <a:bodyPr anchor="b">
            <a:normAutofit/>
          </a:bodyPr>
          <a:lstStyle/>
          <a:p>
            <a:r>
              <a:rPr lang="en-US" dirty="0"/>
              <a:t>INTRODUCTION</a:t>
            </a:r>
          </a:p>
        </p:txBody>
      </p:sp>
      <p:sp>
        <p:nvSpPr>
          <p:cNvPr id="16" name="Rectangle 1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727ED9E-FA80-FDF6-FF9C-974A4118206B}"/>
              </a:ext>
            </a:extLst>
          </p:cNvPr>
          <p:cNvGraphicFramePr>
            <a:graphicFrameLocks noGrp="1"/>
          </p:cNvGraphicFramePr>
          <p:nvPr>
            <p:ph idx="1"/>
            <p:extLst>
              <p:ext uri="{D42A27DB-BD31-4B8C-83A1-F6EECF244321}">
                <p14:modId xmlns:p14="http://schemas.microsoft.com/office/powerpoint/2010/main" val="286731693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3429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8A9311-1FFC-DABB-4315-4D185AE6B848}"/>
              </a:ext>
            </a:extLst>
          </p:cNvPr>
          <p:cNvSpPr>
            <a:spLocks noGrp="1"/>
          </p:cNvSpPr>
          <p:nvPr>
            <p:ph type="title"/>
          </p:nvPr>
        </p:nvSpPr>
        <p:spPr>
          <a:xfrm>
            <a:off x="645065" y="1443376"/>
            <a:ext cx="3796306" cy="2690949"/>
          </a:xfrm>
        </p:spPr>
        <p:txBody>
          <a:bodyPr anchor="t">
            <a:normAutofit fontScale="90000"/>
          </a:bodyPr>
          <a:lstStyle/>
          <a:p>
            <a:pPr algn="ctr"/>
            <a:r>
              <a:rPr lang="en-US" sz="4800" b="1" dirty="0"/>
              <a:t>DATA CLEANING AND VISUALIZATION PROCESS</a:t>
            </a:r>
            <a:r>
              <a:rPr lang="en-US" sz="4800" dirty="0"/>
              <a:t> </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6663216-6040-C4BC-C31E-1847AD35C516}"/>
              </a:ext>
            </a:extLst>
          </p:cNvPr>
          <p:cNvSpPr>
            <a:spLocks noGrp="1"/>
          </p:cNvSpPr>
          <p:nvPr>
            <p:ph idx="1"/>
          </p:nvPr>
        </p:nvSpPr>
        <p:spPr>
          <a:xfrm>
            <a:off x="5656218" y="1463039"/>
            <a:ext cx="5542387" cy="4300447"/>
          </a:xfrm>
        </p:spPr>
        <p:txBody>
          <a:bodyPr anchor="t">
            <a:normAutofit fontScale="92500"/>
          </a:bodyPr>
          <a:lstStyle/>
          <a:p>
            <a:pPr marL="0" indent="0" algn="just">
              <a:buNone/>
            </a:pPr>
            <a:r>
              <a:rPr lang="en-US" sz="1400" b="1" dirty="0">
                <a:latin typeface="Aptos Narrow" panose="020B0004020202020204" pitchFamily="34" charset="0"/>
              </a:rPr>
              <a:t>1)Power Query Editor: </a:t>
            </a:r>
            <a:r>
              <a:rPr lang="en-US" sz="1400" dirty="0">
                <a:latin typeface="Aptos Narrow" panose="020B0004020202020204" pitchFamily="34" charset="0"/>
              </a:rPr>
              <a:t>We began with the Power Query Editor to filter and               trim our  data, enhancing its  quality.</a:t>
            </a:r>
          </a:p>
          <a:p>
            <a:pPr marL="0" indent="0" algn="just">
              <a:buNone/>
            </a:pPr>
            <a:r>
              <a:rPr lang="en-US" sz="1400" dirty="0">
                <a:latin typeface="Aptos Narrow" panose="020B0004020202020204" pitchFamily="34" charset="0"/>
              </a:rPr>
              <a:t>This initial step significantly improved our data analysis efficiency, enabling faster decision-making and clearer insights.</a:t>
            </a:r>
          </a:p>
          <a:p>
            <a:pPr marL="0" indent="0" algn="just">
              <a:buNone/>
            </a:pPr>
            <a:endParaRPr lang="en-US" sz="1400" dirty="0">
              <a:latin typeface="Aptos Narrow" panose="020B0004020202020204" pitchFamily="34" charset="0"/>
            </a:endParaRPr>
          </a:p>
          <a:p>
            <a:pPr marL="0" indent="0" algn="just">
              <a:buNone/>
            </a:pPr>
            <a:r>
              <a:rPr lang="en-US" sz="1400" b="1" dirty="0">
                <a:latin typeface="Aptos Narrow" panose="020B0004020202020204" pitchFamily="34" charset="0"/>
              </a:rPr>
              <a:t>2) Merging Datasets:  </a:t>
            </a:r>
            <a:r>
              <a:rPr lang="en-US" sz="1400" dirty="0">
                <a:latin typeface="Aptos Narrow" panose="020B0004020202020204" pitchFamily="34" charset="0"/>
              </a:rPr>
              <a:t>After cleaning, we merged both datasets into a master dataset and converted it into a table for easier manipulation with the help of joins.</a:t>
            </a:r>
          </a:p>
          <a:p>
            <a:pPr marL="0" indent="0" algn="just">
              <a:buNone/>
            </a:pPr>
            <a:endParaRPr lang="en-US" sz="1400" dirty="0">
              <a:latin typeface="Aptos Narrow" panose="020B0004020202020204" pitchFamily="34" charset="0"/>
            </a:endParaRPr>
          </a:p>
          <a:p>
            <a:pPr marL="0" indent="0" algn="just">
              <a:buNone/>
            </a:pPr>
            <a:r>
              <a:rPr lang="en-US" sz="1400" b="1" dirty="0">
                <a:latin typeface="Aptos Narrow" panose="020B0004020202020204" pitchFamily="34" charset="0"/>
              </a:rPr>
              <a:t>3) Data Visualization: </a:t>
            </a:r>
            <a:r>
              <a:rPr lang="en-US" sz="1400" dirty="0">
                <a:latin typeface="Aptos Narrow" panose="020B0004020202020204" pitchFamily="34" charset="0"/>
              </a:rPr>
              <a:t>For visualization, we utilized POWER BI ,EXCEL AND TABLEAU to derive our key performance indicators (KPIs).</a:t>
            </a:r>
          </a:p>
          <a:p>
            <a:pPr marL="0" indent="0" algn="just">
              <a:buNone/>
            </a:pPr>
            <a:endParaRPr lang="en-US" sz="1400" dirty="0">
              <a:latin typeface="Aptos Narrow" panose="020B0004020202020204" pitchFamily="34" charset="0"/>
            </a:endParaRPr>
          </a:p>
          <a:p>
            <a:pPr marL="0" indent="0" algn="just">
              <a:buNone/>
            </a:pPr>
            <a:r>
              <a:rPr lang="en-US" sz="1400" b="1" dirty="0">
                <a:latin typeface="Aptos Narrow" panose="020B0004020202020204" pitchFamily="34" charset="0"/>
              </a:rPr>
              <a:t>4) Slicers: </a:t>
            </a:r>
            <a:r>
              <a:rPr lang="en-US" sz="1400" dirty="0">
                <a:latin typeface="Aptos Narrow" panose="020B0004020202020204" pitchFamily="34" charset="0"/>
              </a:rPr>
              <a:t>To enhance interactivity and clarity, we implemented slicers, allowing us to filter and view  different scenarios effectively. This structured approach not only streamlined our analysis but also improved our ability to communicate insights visually.</a:t>
            </a:r>
          </a:p>
          <a:p>
            <a:pPr marL="0" indent="0" algn="just">
              <a:buNone/>
            </a:pPr>
            <a:endParaRPr lang="en-US" sz="1400" b="1" dirty="0"/>
          </a:p>
          <a:p>
            <a:pPr marL="0" indent="0" algn="just">
              <a:buNone/>
            </a:pPr>
            <a:r>
              <a:rPr lang="en-US" sz="1400" dirty="0"/>
              <a:t>	           	</a:t>
            </a:r>
          </a:p>
        </p:txBody>
      </p:sp>
    </p:spTree>
    <p:extLst>
      <p:ext uri="{BB962C8B-B14F-4D97-AF65-F5344CB8AC3E}">
        <p14:creationId xmlns:p14="http://schemas.microsoft.com/office/powerpoint/2010/main" val="2303878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21">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1B2E8D-607E-9665-5B31-D3D1649E4428}"/>
              </a:ext>
            </a:extLst>
          </p:cNvPr>
          <p:cNvSpPr>
            <a:spLocks noGrp="1"/>
          </p:cNvSpPr>
          <p:nvPr>
            <p:ph type="title"/>
          </p:nvPr>
        </p:nvSpPr>
        <p:spPr>
          <a:xfrm>
            <a:off x="621792" y="1171120"/>
            <a:ext cx="3602736" cy="4526280"/>
          </a:xfrm>
        </p:spPr>
        <p:txBody>
          <a:bodyPr>
            <a:normAutofit/>
          </a:bodyPr>
          <a:lstStyle/>
          <a:p>
            <a:r>
              <a:rPr lang="en-US" sz="6000" dirty="0"/>
              <a:t>KPI’s</a:t>
            </a:r>
          </a:p>
        </p:txBody>
      </p:sp>
      <p:sp>
        <p:nvSpPr>
          <p:cNvPr id="24" name="Rectangle 2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4" name="Content Placeholder 2">
            <a:extLst>
              <a:ext uri="{FF2B5EF4-FFF2-40B4-BE49-F238E27FC236}">
                <a16:creationId xmlns:a16="http://schemas.microsoft.com/office/drawing/2014/main" id="{9ACDCCA5-18F0-21C8-ACA1-59573D0F3792}"/>
              </a:ext>
            </a:extLst>
          </p:cNvPr>
          <p:cNvGraphicFramePr>
            <a:graphicFrameLocks noGrp="1"/>
          </p:cNvGraphicFramePr>
          <p:nvPr>
            <p:ph idx="1"/>
            <p:extLst>
              <p:ext uri="{D42A27DB-BD31-4B8C-83A1-F6EECF244321}">
                <p14:modId xmlns:p14="http://schemas.microsoft.com/office/powerpoint/2010/main" val="283896446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5446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3144AB-9CBC-2EE2-B4A2-28431C655175}"/>
              </a:ext>
            </a:extLst>
          </p:cNvPr>
          <p:cNvSpPr txBox="1"/>
          <p:nvPr/>
        </p:nvSpPr>
        <p:spPr>
          <a:xfrm>
            <a:off x="1736271" y="194867"/>
            <a:ext cx="8719457" cy="769441"/>
          </a:xfrm>
          <a:prstGeom prst="rect">
            <a:avLst/>
          </a:prstGeom>
          <a:noFill/>
        </p:spPr>
        <p:txBody>
          <a:bodyPr wrap="square" rtlCol="0">
            <a:spAutoFit/>
          </a:bodyPr>
          <a:lstStyle/>
          <a:p>
            <a:pPr algn="ctr"/>
            <a:r>
              <a:rPr lang="en-US" sz="4400" b="1" dirty="0">
                <a:latin typeface="+mj-lt"/>
                <a:ea typeface="Calibri" panose="020F0502020204030204" pitchFamily="34" charset="0"/>
                <a:cs typeface="Calibri" panose="020F0502020204030204" pitchFamily="34" charset="0"/>
              </a:rPr>
              <a:t>INSIGHTS FROM DATA </a:t>
            </a:r>
          </a:p>
        </p:txBody>
      </p:sp>
      <p:sp>
        <p:nvSpPr>
          <p:cNvPr id="3" name="TextBox 2">
            <a:extLst>
              <a:ext uri="{FF2B5EF4-FFF2-40B4-BE49-F238E27FC236}">
                <a16:creationId xmlns:a16="http://schemas.microsoft.com/office/drawing/2014/main" id="{8F829B5B-EF27-62D7-231E-FB33F0328907}"/>
              </a:ext>
            </a:extLst>
          </p:cNvPr>
          <p:cNvSpPr txBox="1"/>
          <p:nvPr/>
        </p:nvSpPr>
        <p:spPr>
          <a:xfrm>
            <a:off x="511630" y="1000044"/>
            <a:ext cx="11168740" cy="5663089"/>
          </a:xfrm>
          <a:prstGeom prst="rect">
            <a:avLst/>
          </a:prstGeom>
          <a:noFill/>
        </p:spPr>
        <p:txBody>
          <a:bodyPr wrap="square" rtlCol="0">
            <a:spAutoFit/>
          </a:bodyPr>
          <a:lstStyle/>
          <a:p>
            <a:r>
              <a:rPr lang="en-US" sz="2000" b="1"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 Findings from KPI</a:t>
            </a:r>
          </a:p>
          <a:p>
            <a:pPr algn="ctr"/>
            <a:endParaRPr lang="en-US" sz="2400" b="1" i="0" dirty="0">
              <a:solidFill>
                <a:srgbClr val="282523"/>
              </a:solidFill>
              <a:effectLst/>
              <a:latin typeface="Calibri" panose="020F0502020204030204" pitchFamily="34" charset="0"/>
              <a:ea typeface="Calibri" panose="020F0502020204030204" pitchFamily="34" charset="0"/>
              <a:cs typeface="Calibri" panose="020F0502020204030204" pitchFamily="34" charset="0"/>
            </a:endParaRPr>
          </a:p>
          <a:p>
            <a:pPr algn="l">
              <a:buFont typeface="+mj-lt"/>
              <a:buAutoNum type="arabicPeriod"/>
            </a:pPr>
            <a:r>
              <a:rPr lang="en-US" sz="2000" b="1" dirty="0">
                <a:solidFill>
                  <a:srgbClr val="282523"/>
                </a:solidFill>
                <a:latin typeface="Calibri" panose="020F0502020204030204" pitchFamily="34" charset="0"/>
                <a:ea typeface="Calibri" panose="020F0502020204030204" pitchFamily="34" charset="0"/>
                <a:cs typeface="Calibri" panose="020F0502020204030204" pitchFamily="34" charset="0"/>
              </a:rPr>
              <a:t>Y</a:t>
            </a:r>
            <a:r>
              <a:rPr lang="en-US" sz="2000" b="1"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ear-wise loan amount Stats</a:t>
            </a: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 Gradual increase year-to-year; biggest jumps in 2010 and 2011.</a:t>
            </a:r>
          </a:p>
          <a:p>
            <a:pPr algn="l"/>
            <a:endPar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000" b="1"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2. Grade and subgrade-wise revolving balance</a:t>
            </a: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 Highest balances in B</a:t>
            </a:r>
            <a:r>
              <a:rPr lang="en-US" sz="2000" dirty="0">
                <a:solidFill>
                  <a:srgbClr val="282523"/>
                </a:solidFill>
                <a:latin typeface="Calibri" panose="020F0502020204030204" pitchFamily="34" charset="0"/>
                <a:ea typeface="Calibri" panose="020F0502020204030204" pitchFamily="34" charset="0"/>
                <a:cs typeface="Calibri" panose="020F0502020204030204" pitchFamily="34" charset="0"/>
              </a:rPr>
              <a:t> followed by A </a:t>
            </a: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 lowest in G.</a:t>
            </a:r>
          </a:p>
          <a:p>
            <a:pPr algn="l"/>
            <a:endPar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000" b="1" dirty="0">
                <a:solidFill>
                  <a:srgbClr val="282523"/>
                </a:solidFill>
                <a:latin typeface="Calibri" panose="020F0502020204030204" pitchFamily="34" charset="0"/>
                <a:ea typeface="Calibri" panose="020F0502020204030204" pitchFamily="34" charset="0"/>
                <a:cs typeface="Calibri" panose="020F0502020204030204" pitchFamily="34" charset="0"/>
              </a:rPr>
              <a:t>3. T</a:t>
            </a:r>
            <a:r>
              <a:rPr lang="en-US" sz="2000" b="1"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otal Payment for Verified vs Non-Verified Status</a:t>
            </a: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mj-lt"/>
              <a:buAutoNum type="arabicPeriod"/>
            </a:pP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Verified: 41.12% at  $153.54M, DTI ratio 14.25.</a:t>
            </a:r>
          </a:p>
          <a:p>
            <a:pPr marL="742950" lvl="1" indent="-285750" algn="l">
              <a:buFont typeface="+mj-lt"/>
              <a:buAutoNum type="arabicPeriod"/>
            </a:pP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Non-verified: 58.88% at $219.89M, DTI ratio 13</a:t>
            </a:r>
            <a:r>
              <a:rPr lang="en-US" sz="2000" dirty="0">
                <a:solidFill>
                  <a:srgbClr val="282523"/>
                </a:solidFill>
                <a:latin typeface="Calibri" panose="020F0502020204030204" pitchFamily="34" charset="0"/>
                <a:ea typeface="Calibri" panose="020F0502020204030204" pitchFamily="34" charset="0"/>
                <a:cs typeface="Calibri" panose="020F0502020204030204" pitchFamily="34" charset="0"/>
              </a:rPr>
              <a:t>.</a:t>
            </a:r>
            <a:endPar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000" b="1"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4. State-wise and month-wise loan status</a:t>
            </a: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mj-lt"/>
              <a:buAutoNum type="arabicPeriod"/>
            </a:pP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Most loans: California, New York, Florida.</a:t>
            </a:r>
          </a:p>
          <a:p>
            <a:pPr marL="742950" lvl="1" indent="-285750" algn="l">
              <a:buFont typeface="+mj-lt"/>
              <a:buAutoNum type="arabicPeriod"/>
            </a:pP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Highest loan amount: December; lowest: January.</a:t>
            </a:r>
          </a:p>
          <a:p>
            <a:pPr marL="742950" lvl="1" indent="-285750" algn="l">
              <a:buFont typeface="+mj-lt"/>
              <a:buAutoNum type="arabicPeriod"/>
            </a:pP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Loan status: Fully Paid (32,950), Charged Off (5,627), Current (1,140).</a:t>
            </a:r>
          </a:p>
          <a:p>
            <a:pPr algn="l"/>
            <a:r>
              <a:rPr lang="en-US" sz="2000" b="1" dirty="0">
                <a:solidFill>
                  <a:srgbClr val="282523"/>
                </a:solidFill>
                <a:latin typeface="Calibri" panose="020F0502020204030204" pitchFamily="34" charset="0"/>
                <a:ea typeface="Calibri" panose="020F0502020204030204" pitchFamily="34" charset="0"/>
                <a:cs typeface="Calibri" panose="020F0502020204030204" pitchFamily="34" charset="0"/>
              </a:rPr>
              <a:t>5. H</a:t>
            </a:r>
            <a:r>
              <a:rPr lang="en-US" sz="2000" b="1"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omeownership vs. last payment date stats</a:t>
            </a: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mj-lt"/>
              <a:buAutoNum type="arabicPeriod"/>
            </a:pP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Highest Category: Rent</a:t>
            </a:r>
            <a:r>
              <a:rPr lang="en-US" sz="2000" dirty="0">
                <a:solidFill>
                  <a:srgbClr val="282523"/>
                </a:solidFill>
                <a:latin typeface="Calibri" panose="020F0502020204030204" pitchFamily="34" charset="0"/>
                <a:ea typeface="Calibri" panose="020F0502020204030204" pitchFamily="34" charset="0"/>
                <a:cs typeface="Calibri" panose="020F0502020204030204" pitchFamily="34" charset="0"/>
              </a:rPr>
              <a:t> - </a:t>
            </a: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18,847.</a:t>
            </a:r>
          </a:p>
          <a:p>
            <a:pPr marL="742950" lvl="1" indent="-285750" algn="l">
              <a:buFont typeface="+mj-lt"/>
              <a:buAutoNum type="arabicPeriod"/>
            </a:pP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Second Highest Category: Mortgage- 17,645.</a:t>
            </a:r>
          </a:p>
          <a:p>
            <a:pPr marL="742950" lvl="1" indent="-285750" algn="l">
              <a:buFont typeface="+mj-lt"/>
              <a:buAutoNum type="arabicPeriod"/>
            </a:pPr>
            <a:r>
              <a:rPr lang="en-US" sz="2000" b="0" i="0" dirty="0">
                <a:solidFill>
                  <a:srgbClr val="282523"/>
                </a:solidFill>
                <a:effectLst/>
                <a:latin typeface="Calibri" panose="020F0502020204030204" pitchFamily="34" charset="0"/>
                <a:ea typeface="Calibri" panose="020F0502020204030204" pitchFamily="34" charset="0"/>
                <a:cs typeface="Calibri" panose="020F0502020204030204" pitchFamily="34" charset="0"/>
              </a:rPr>
              <a:t>None: least last payment count -3.</a:t>
            </a:r>
            <a:endParaRPr lang="en-US" b="0" i="0" dirty="0">
              <a:solidFill>
                <a:srgbClr val="282523"/>
              </a:solidFill>
              <a:effectLst/>
              <a:latin typeface="Ginto"/>
            </a:endParaRP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96673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A0692A2-2429-1555-B5C3-92985D9457AC}"/>
              </a:ext>
            </a:extLst>
          </p:cNvPr>
          <p:cNvSpPr>
            <a:spLocks noGrp="1"/>
          </p:cNvSpPr>
          <p:nvPr>
            <p:ph type="subTitle" idx="1"/>
          </p:nvPr>
        </p:nvSpPr>
        <p:spPr>
          <a:xfrm>
            <a:off x="990600" y="566057"/>
            <a:ext cx="9677400" cy="5693229"/>
          </a:xfrm>
        </p:spPr>
        <p:txBody>
          <a:bodyPr>
            <a:normAutofit/>
          </a:bodyPr>
          <a:lstStyle/>
          <a:p>
            <a:r>
              <a:rPr lang="en-US" sz="2000" b="1">
                <a:solidFill>
                  <a:srgbClr val="282523"/>
                </a:solidFill>
                <a:latin typeface="Calibri" panose="020F0502020204030204" pitchFamily="34" charset="0"/>
                <a:ea typeface="Calibri" panose="020F0502020204030204" pitchFamily="34" charset="0"/>
                <a:cs typeface="Calibri" panose="020F0502020204030204" pitchFamily="34" charset="0"/>
              </a:rPr>
              <a:t>Additional Findings</a:t>
            </a:r>
          </a:p>
          <a:p>
            <a:pPr algn="ctr"/>
            <a:endParaRPr lang="en-US" sz="1800" b="1">
              <a:solidFill>
                <a:srgbClr val="282523"/>
              </a:solidFill>
              <a:latin typeface="Calibri" panose="020F0502020204030204" pitchFamily="34" charset="0"/>
              <a:ea typeface="Calibri" panose="020F0502020204030204" pitchFamily="34" charset="0"/>
              <a:cs typeface="Calibri" panose="020F0502020204030204" pitchFamily="34" charset="0"/>
            </a:endParaRPr>
          </a:p>
          <a:p>
            <a:pPr algn="l"/>
            <a:r>
              <a:rPr lang="en-US" sz="2000" b="1" i="0">
                <a:solidFill>
                  <a:srgbClr val="282523"/>
                </a:solidFill>
                <a:effectLst/>
                <a:latin typeface="Calibri" panose="020F0502020204030204" pitchFamily="34" charset="0"/>
                <a:ea typeface="Calibri" panose="020F0502020204030204" pitchFamily="34" charset="0"/>
                <a:cs typeface="Calibri" panose="020F0502020204030204" pitchFamily="34" charset="0"/>
              </a:rPr>
              <a:t>6. Average interest rate</a:t>
            </a:r>
            <a:r>
              <a:rPr lang="en-US" sz="2000">
                <a:solidFill>
                  <a:srgbClr val="282523"/>
                </a:solidFill>
                <a:latin typeface="Calibri" panose="020F0502020204030204" pitchFamily="34" charset="0"/>
                <a:ea typeface="Calibri" panose="020F0502020204030204" pitchFamily="34" charset="0"/>
                <a:cs typeface="Calibri" panose="020F0502020204030204" pitchFamily="34" charset="0"/>
              </a:rPr>
              <a:t>:</a:t>
            </a:r>
            <a:r>
              <a:rPr lang="en-US" sz="2000" b="1" i="0">
                <a:solidFill>
                  <a:srgbClr val="282523"/>
                </a:solidFill>
                <a:effectLst/>
                <a:latin typeface="Calibri" panose="020F0502020204030204" pitchFamily="34" charset="0"/>
                <a:ea typeface="Calibri" panose="020F0502020204030204" pitchFamily="34" charset="0"/>
                <a:cs typeface="Calibri" panose="020F0502020204030204" pitchFamily="34" charset="0"/>
              </a:rPr>
              <a:t> </a:t>
            </a:r>
            <a:r>
              <a:rPr lang="en-US" sz="2000" b="0" i="0">
                <a:solidFill>
                  <a:srgbClr val="282523"/>
                </a:solidFill>
                <a:effectLst/>
                <a:latin typeface="Calibri" panose="020F0502020204030204" pitchFamily="34" charset="0"/>
                <a:ea typeface="Calibri" panose="020F0502020204030204" pitchFamily="34" charset="0"/>
                <a:cs typeface="Calibri" panose="020F0502020204030204" pitchFamily="34" charset="0"/>
              </a:rPr>
              <a:t>12 %.</a:t>
            </a:r>
          </a:p>
          <a:p>
            <a:pPr algn="l"/>
            <a:endParaRPr lang="en-US" sz="2000" b="0" i="0">
              <a:solidFill>
                <a:srgbClr val="282523"/>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000" b="1">
                <a:solidFill>
                  <a:srgbClr val="282523"/>
                </a:solidFill>
                <a:latin typeface="Calibri" panose="020F0502020204030204" pitchFamily="34" charset="0"/>
                <a:ea typeface="Calibri" panose="020F0502020204030204" pitchFamily="34" charset="0"/>
                <a:cs typeface="Calibri" panose="020F0502020204030204" pitchFamily="34" charset="0"/>
              </a:rPr>
              <a:t>7. Average Debt-to-Income Ratio</a:t>
            </a:r>
            <a:r>
              <a:rPr lang="en-US" sz="2000">
                <a:solidFill>
                  <a:srgbClr val="282523"/>
                </a:solidFill>
                <a:latin typeface="Calibri" panose="020F0502020204030204" pitchFamily="34" charset="0"/>
                <a:ea typeface="Calibri" panose="020F0502020204030204" pitchFamily="34" charset="0"/>
                <a:cs typeface="Calibri" panose="020F0502020204030204" pitchFamily="34" charset="0"/>
              </a:rPr>
              <a:t>: 13. </a:t>
            </a:r>
          </a:p>
          <a:p>
            <a:pPr algn="l"/>
            <a:endParaRPr lang="en-US" sz="2000">
              <a:solidFill>
                <a:srgbClr val="282523"/>
              </a:solidFill>
              <a:latin typeface="Calibri" panose="020F0502020204030204" pitchFamily="34" charset="0"/>
              <a:ea typeface="Calibri" panose="020F0502020204030204" pitchFamily="34" charset="0"/>
              <a:cs typeface="Calibri" panose="020F0502020204030204" pitchFamily="34" charset="0"/>
            </a:endParaRPr>
          </a:p>
          <a:p>
            <a:pPr algn="l"/>
            <a:r>
              <a:rPr lang="en-US" sz="2000" b="1">
                <a:solidFill>
                  <a:srgbClr val="282523"/>
                </a:solidFill>
                <a:latin typeface="Calibri" panose="020F0502020204030204" pitchFamily="34" charset="0"/>
                <a:ea typeface="Calibri" panose="020F0502020204030204" pitchFamily="34" charset="0"/>
                <a:cs typeface="Calibri" panose="020F0502020204030204" pitchFamily="34" charset="0"/>
              </a:rPr>
              <a:t>8. Purpose of Taking Loan</a:t>
            </a:r>
            <a:r>
              <a:rPr lang="en-US" sz="2000">
                <a:solidFill>
                  <a:srgbClr val="282523"/>
                </a:solidFill>
                <a:latin typeface="Calibri" panose="020F0502020204030204" pitchFamily="34" charset="0"/>
                <a:ea typeface="Calibri" panose="020F0502020204030204" pitchFamily="34" charset="0"/>
                <a:cs typeface="Calibri" panose="020F0502020204030204" pitchFamily="34" charset="0"/>
              </a:rPr>
              <a:t>: Highest Debt Reconsolidation; Lowest: Renewable Energy. </a:t>
            </a:r>
            <a:endParaRPr lang="en-US" sz="2000" dirty="0">
              <a:solidFill>
                <a:srgbClr val="282523"/>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282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4141B1-B88F-9526-D313-E29C42AB0932}"/>
              </a:ext>
            </a:extLst>
          </p:cNvPr>
          <p:cNvSpPr>
            <a:spLocks noGrp="1"/>
          </p:cNvSpPr>
          <p:nvPr>
            <p:ph type="title"/>
          </p:nvPr>
        </p:nvSpPr>
        <p:spPr>
          <a:xfrm>
            <a:off x="357528" y="639193"/>
            <a:ext cx="3571810" cy="3573516"/>
          </a:xfrm>
        </p:spPr>
        <p:txBody>
          <a:bodyPr vert="horz" lIns="91440" tIns="45720" rIns="91440" bIns="45720" rtlCol="0" anchor="b">
            <a:normAutofit/>
          </a:bodyPr>
          <a:lstStyle/>
          <a:p>
            <a:r>
              <a:rPr lang="en-US" kern="1200" dirty="0">
                <a:solidFill>
                  <a:schemeClr val="tx1"/>
                </a:solidFill>
                <a:latin typeface="+mj-lt"/>
                <a:ea typeface="+mj-ea"/>
                <a:cs typeface="+mj-cs"/>
              </a:rPr>
              <a:t>EXCEL DASHBOARD</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up of a financial report&#10;&#10;Description automatically generated">
            <a:extLst>
              <a:ext uri="{FF2B5EF4-FFF2-40B4-BE49-F238E27FC236}">
                <a16:creationId xmlns:a16="http://schemas.microsoft.com/office/drawing/2014/main" id="{0AE21A31-547F-CE80-0E6A-21DD3D9F06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9338" y="514227"/>
            <a:ext cx="8019142" cy="5630934"/>
          </a:xfrm>
          <a:prstGeom prst="rect">
            <a:avLst/>
          </a:prstGeom>
        </p:spPr>
      </p:pic>
    </p:spTree>
    <p:extLst>
      <p:ext uri="{BB962C8B-B14F-4D97-AF65-F5344CB8AC3E}">
        <p14:creationId xmlns:p14="http://schemas.microsoft.com/office/powerpoint/2010/main" val="2203692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Flowchart: Document 35">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53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B7E66-A3AE-A46A-EF4B-9690A35246BF}"/>
              </a:ext>
            </a:extLst>
          </p:cNvPr>
          <p:cNvSpPr>
            <a:spLocks noGrp="1"/>
          </p:cNvSpPr>
          <p:nvPr>
            <p:ph type="title"/>
          </p:nvPr>
        </p:nvSpPr>
        <p:spPr>
          <a:xfrm>
            <a:off x="638174" y="269485"/>
            <a:ext cx="3248025" cy="2371148"/>
          </a:xfrm>
          <a:prstGeom prst="ellipse">
            <a:avLst/>
          </a:prstGeom>
        </p:spPr>
        <p:txBody>
          <a:bodyPr vert="horz" lIns="91440" tIns="45720" rIns="91440" bIns="45720" rtlCol="0" anchor="ctr">
            <a:normAutofit/>
          </a:bodyPr>
          <a:lstStyle/>
          <a:p>
            <a:r>
              <a:rPr lang="en-US" sz="3200" kern="1200" dirty="0">
                <a:solidFill>
                  <a:srgbClr val="FFFFFF"/>
                </a:solidFill>
                <a:latin typeface="+mj-lt"/>
                <a:ea typeface="+mj-ea"/>
                <a:cs typeface="+mj-cs"/>
              </a:rPr>
              <a:t>POWER BI - DASHBOARD</a:t>
            </a:r>
          </a:p>
        </p:txBody>
      </p:sp>
      <p:pic>
        <p:nvPicPr>
          <p:cNvPr id="7" name="Picture 6" descr="A screenshot of a computer&#10;&#10;Description automatically generated">
            <a:extLst>
              <a:ext uri="{FF2B5EF4-FFF2-40B4-BE49-F238E27FC236}">
                <a16:creationId xmlns:a16="http://schemas.microsoft.com/office/drawing/2014/main" id="{CCD6EADA-5712-DF84-158A-2D67467477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6288" y="951334"/>
            <a:ext cx="7749738" cy="5370808"/>
          </a:xfrm>
          <a:prstGeom prst="rect">
            <a:avLst/>
          </a:prstGeom>
        </p:spPr>
      </p:pic>
    </p:spTree>
    <p:extLst>
      <p:ext uri="{BB962C8B-B14F-4D97-AF65-F5344CB8AC3E}">
        <p14:creationId xmlns:p14="http://schemas.microsoft.com/office/powerpoint/2010/main" val="3330671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DF88BE5-3CC4-BDBD-0A2B-DB8D6729C8A7}"/>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TABLEAU DASHBOARD</a:t>
            </a:r>
          </a:p>
        </p:txBody>
      </p:sp>
      <p:pic>
        <p:nvPicPr>
          <p:cNvPr id="5" name="Content Placeholder 4">
            <a:extLst>
              <a:ext uri="{FF2B5EF4-FFF2-40B4-BE49-F238E27FC236}">
                <a16:creationId xmlns:a16="http://schemas.microsoft.com/office/drawing/2014/main" id="{1B9B7AC9-77CC-483A-9425-F5AD435F8ED6}"/>
              </a:ext>
            </a:extLst>
          </p:cNvPr>
          <p:cNvPicPr>
            <a:picLocks noGrp="1" noChangeAspect="1"/>
          </p:cNvPicPr>
          <p:nvPr>
            <p:ph idx="1"/>
          </p:nvPr>
        </p:nvPicPr>
        <p:blipFill>
          <a:blip r:embed="rId2"/>
          <a:stretch>
            <a:fillRect/>
          </a:stretch>
        </p:blipFill>
        <p:spPr>
          <a:xfrm>
            <a:off x="1130710" y="1556735"/>
            <a:ext cx="9943006" cy="4952220"/>
          </a:xfrm>
          <a:prstGeom prst="rect">
            <a:avLst/>
          </a:prstGeom>
        </p:spPr>
      </p:pic>
    </p:spTree>
    <p:extLst>
      <p:ext uri="{BB962C8B-B14F-4D97-AF65-F5344CB8AC3E}">
        <p14:creationId xmlns:p14="http://schemas.microsoft.com/office/powerpoint/2010/main" val="3556054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EF47F9-5308-28CD-B9B2-9ACFEFE17F58}"/>
              </a:ext>
            </a:extLst>
          </p:cNvPr>
          <p:cNvPicPr>
            <a:picLocks noChangeAspect="1"/>
          </p:cNvPicPr>
          <p:nvPr/>
        </p:nvPicPr>
        <p:blipFill>
          <a:blip r:embed="rId2"/>
          <a:srcRect r="43546" b="18962"/>
          <a:stretch/>
        </p:blipFill>
        <p:spPr>
          <a:xfrm>
            <a:off x="8130448" y="2674103"/>
            <a:ext cx="3414102" cy="1737433"/>
          </a:xfrm>
          <a:prstGeom prst="rect">
            <a:avLst/>
          </a:prstGeom>
        </p:spPr>
      </p:pic>
      <p:pic>
        <p:nvPicPr>
          <p:cNvPr id="8" name="Picture 7">
            <a:extLst>
              <a:ext uri="{FF2B5EF4-FFF2-40B4-BE49-F238E27FC236}">
                <a16:creationId xmlns:a16="http://schemas.microsoft.com/office/drawing/2014/main" id="{DD89E094-1647-2DDD-07DA-93479104F203}"/>
              </a:ext>
            </a:extLst>
          </p:cNvPr>
          <p:cNvPicPr>
            <a:picLocks noChangeAspect="1"/>
          </p:cNvPicPr>
          <p:nvPr/>
        </p:nvPicPr>
        <p:blipFill>
          <a:blip r:embed="rId3"/>
          <a:srcRect r="15197" b="19146"/>
          <a:stretch/>
        </p:blipFill>
        <p:spPr>
          <a:xfrm>
            <a:off x="240218" y="4690689"/>
            <a:ext cx="7262268" cy="19818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0" name="Picture 9">
            <a:extLst>
              <a:ext uri="{FF2B5EF4-FFF2-40B4-BE49-F238E27FC236}">
                <a16:creationId xmlns:a16="http://schemas.microsoft.com/office/drawing/2014/main" id="{45040EF3-6198-6B5E-FC7F-433A47098A4D}"/>
              </a:ext>
            </a:extLst>
          </p:cNvPr>
          <p:cNvPicPr>
            <a:picLocks noChangeAspect="1"/>
          </p:cNvPicPr>
          <p:nvPr/>
        </p:nvPicPr>
        <p:blipFill>
          <a:blip r:embed="rId4"/>
          <a:srcRect t="1098" r="23440" b="-1098"/>
          <a:stretch/>
        </p:blipFill>
        <p:spPr>
          <a:xfrm>
            <a:off x="8130448" y="4690689"/>
            <a:ext cx="3414103" cy="1918927"/>
          </a:xfrm>
          <a:prstGeom prst="rect">
            <a:avLst/>
          </a:prstGeom>
        </p:spPr>
      </p:pic>
      <p:pic>
        <p:nvPicPr>
          <p:cNvPr id="12" name="Picture 11">
            <a:extLst>
              <a:ext uri="{FF2B5EF4-FFF2-40B4-BE49-F238E27FC236}">
                <a16:creationId xmlns:a16="http://schemas.microsoft.com/office/drawing/2014/main" id="{D48C2181-51E7-815F-1A70-38F3F0A7D675}"/>
              </a:ext>
            </a:extLst>
          </p:cNvPr>
          <p:cNvPicPr>
            <a:picLocks noChangeAspect="1"/>
          </p:cNvPicPr>
          <p:nvPr/>
        </p:nvPicPr>
        <p:blipFill>
          <a:blip r:embed="rId5"/>
          <a:stretch>
            <a:fillRect/>
          </a:stretch>
        </p:blipFill>
        <p:spPr>
          <a:xfrm>
            <a:off x="328708" y="2588964"/>
            <a:ext cx="7262268" cy="182257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3" name="TextBox 12">
            <a:extLst>
              <a:ext uri="{FF2B5EF4-FFF2-40B4-BE49-F238E27FC236}">
                <a16:creationId xmlns:a16="http://schemas.microsoft.com/office/drawing/2014/main" id="{5AC3CB42-C42B-4B03-3E8E-3099597057BB}"/>
              </a:ext>
            </a:extLst>
          </p:cNvPr>
          <p:cNvSpPr txBox="1"/>
          <p:nvPr/>
        </p:nvSpPr>
        <p:spPr>
          <a:xfrm>
            <a:off x="528809" y="1548218"/>
            <a:ext cx="11015741" cy="646331"/>
          </a:xfrm>
          <a:prstGeom prst="rect">
            <a:avLst/>
          </a:prstGeom>
          <a:noFill/>
        </p:spPr>
        <p:txBody>
          <a:bodyPr wrap="square" rtlCol="0">
            <a:spAutoFit/>
          </a:bodyPr>
          <a:lstStyle/>
          <a:p>
            <a:r>
              <a:rPr lang="en-US" b="1" dirty="0">
                <a:solidFill>
                  <a:srgbClr val="0070C0"/>
                </a:solidFill>
                <a:latin typeface="Calibri" panose="020F0502020204030204" pitchFamily="34" charset="0"/>
                <a:ea typeface="Calibri" panose="020F0502020204030204" pitchFamily="34" charset="0"/>
                <a:cs typeface="Calibri" panose="020F0502020204030204" pitchFamily="34" charset="0"/>
              </a:rPr>
              <a:t>Concept Used</a:t>
            </a:r>
            <a:r>
              <a:rPr lang="en-US" dirty="0">
                <a:solidFill>
                  <a:srgbClr val="0070C0"/>
                </a:solidFill>
                <a:latin typeface="Calibri" panose="020F0502020204030204" pitchFamily="34" charset="0"/>
                <a:ea typeface="Calibri" panose="020F0502020204030204" pitchFamily="34" charset="0"/>
                <a:cs typeface="Calibri" panose="020F0502020204030204" pitchFamily="34" charset="0"/>
              </a:rPr>
              <a:t>:-</a:t>
            </a:r>
            <a:r>
              <a:rPr lang="en-US"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rPr>
              <a:t>From”, “Group by”, “Order by”, “Where” and “ON” clause, “Concat” function, Joins, “Format” function, “Sum” and “Count” Function, “</a:t>
            </a:r>
            <a:r>
              <a:rPr lang="en-US" dirty="0" err="1">
                <a:latin typeface="Calibri" panose="020F0502020204030204" pitchFamily="34" charset="0"/>
                <a:ea typeface="Calibri" panose="020F0502020204030204" pitchFamily="34" charset="0"/>
                <a:cs typeface="Calibri" panose="020F0502020204030204" pitchFamily="34" charset="0"/>
              </a:rPr>
              <a:t>MonthName</a:t>
            </a:r>
            <a:r>
              <a:rPr lang="en-US" dirty="0">
                <a:latin typeface="Calibri" panose="020F0502020204030204" pitchFamily="34" charset="0"/>
                <a:ea typeface="Calibri" panose="020F0502020204030204" pitchFamily="34" charset="0"/>
                <a:cs typeface="Calibri" panose="020F0502020204030204" pitchFamily="34" charset="0"/>
              </a:rPr>
              <a:t>” Function,  Alias</a:t>
            </a:r>
          </a:p>
        </p:txBody>
      </p:sp>
      <p:pic>
        <p:nvPicPr>
          <p:cNvPr id="17" name="Picture 16" descr="A dolphin and text on a white background&#10;&#10;Description automatically generated">
            <a:extLst>
              <a:ext uri="{FF2B5EF4-FFF2-40B4-BE49-F238E27FC236}">
                <a16:creationId xmlns:a16="http://schemas.microsoft.com/office/drawing/2014/main" id="{C2EF2F20-4FA1-9EE6-428B-BBD0482706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9704" y="650474"/>
            <a:ext cx="2020108" cy="897744"/>
          </a:xfrm>
          <a:prstGeom prst="rect">
            <a:avLst/>
          </a:prstGeom>
        </p:spPr>
      </p:pic>
      <p:cxnSp>
        <p:nvCxnSpPr>
          <p:cNvPr id="20" name="Straight Connector 19">
            <a:extLst>
              <a:ext uri="{FF2B5EF4-FFF2-40B4-BE49-F238E27FC236}">
                <a16:creationId xmlns:a16="http://schemas.microsoft.com/office/drawing/2014/main" id="{A74AA590-CAF5-E6FC-1C18-C64AB288975D}"/>
              </a:ext>
            </a:extLst>
          </p:cNvPr>
          <p:cNvCxnSpPr>
            <a:cxnSpLocks/>
          </p:cNvCxnSpPr>
          <p:nvPr/>
        </p:nvCxnSpPr>
        <p:spPr>
          <a:xfrm flipV="1">
            <a:off x="469704" y="2385004"/>
            <a:ext cx="10877669" cy="6146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06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1DC0F9-88C5-CFE7-8A14-2B23653EA3E9}"/>
              </a:ext>
            </a:extLst>
          </p:cNvPr>
          <p:cNvPicPr>
            <a:picLocks noChangeAspect="1"/>
          </p:cNvPicPr>
          <p:nvPr/>
        </p:nvPicPr>
        <p:blipFill>
          <a:blip r:embed="rId2"/>
          <a:stretch>
            <a:fillRect/>
          </a:stretch>
        </p:blipFill>
        <p:spPr>
          <a:xfrm>
            <a:off x="720447" y="899594"/>
            <a:ext cx="6737972" cy="237241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Picture 4">
            <a:extLst>
              <a:ext uri="{FF2B5EF4-FFF2-40B4-BE49-F238E27FC236}">
                <a16:creationId xmlns:a16="http://schemas.microsoft.com/office/drawing/2014/main" id="{137E7CDD-23AE-9F77-73F4-61B7D051988F}"/>
              </a:ext>
            </a:extLst>
          </p:cNvPr>
          <p:cNvPicPr>
            <a:picLocks noChangeAspect="1"/>
          </p:cNvPicPr>
          <p:nvPr/>
        </p:nvPicPr>
        <p:blipFill>
          <a:blip r:embed="rId3"/>
          <a:srcRect r="18077"/>
          <a:stretch/>
        </p:blipFill>
        <p:spPr>
          <a:xfrm>
            <a:off x="8204757" y="899594"/>
            <a:ext cx="3266796" cy="1966896"/>
          </a:xfrm>
          <a:prstGeom prst="rect">
            <a:avLst/>
          </a:prstGeom>
        </p:spPr>
      </p:pic>
      <p:pic>
        <p:nvPicPr>
          <p:cNvPr id="7" name="Picture 6">
            <a:extLst>
              <a:ext uri="{FF2B5EF4-FFF2-40B4-BE49-F238E27FC236}">
                <a16:creationId xmlns:a16="http://schemas.microsoft.com/office/drawing/2014/main" id="{B34E3F67-EFB9-9D30-6FDF-4FE766D6AAEC}"/>
              </a:ext>
            </a:extLst>
          </p:cNvPr>
          <p:cNvPicPr>
            <a:picLocks noChangeAspect="1"/>
          </p:cNvPicPr>
          <p:nvPr/>
        </p:nvPicPr>
        <p:blipFill>
          <a:blip r:embed="rId4"/>
          <a:stretch>
            <a:fillRect/>
          </a:stretch>
        </p:blipFill>
        <p:spPr>
          <a:xfrm>
            <a:off x="616449" y="3773277"/>
            <a:ext cx="7062308" cy="269944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9" name="Picture 8">
            <a:extLst>
              <a:ext uri="{FF2B5EF4-FFF2-40B4-BE49-F238E27FC236}">
                <a16:creationId xmlns:a16="http://schemas.microsoft.com/office/drawing/2014/main" id="{3751F74F-BC28-2F8A-6888-37DA9F495AB3}"/>
              </a:ext>
            </a:extLst>
          </p:cNvPr>
          <p:cNvPicPr>
            <a:picLocks noChangeAspect="1"/>
          </p:cNvPicPr>
          <p:nvPr/>
        </p:nvPicPr>
        <p:blipFill>
          <a:blip r:embed="rId5"/>
          <a:stretch>
            <a:fillRect/>
          </a:stretch>
        </p:blipFill>
        <p:spPr>
          <a:xfrm>
            <a:off x="7882273" y="3815107"/>
            <a:ext cx="3589280" cy="2657612"/>
          </a:xfrm>
          <a:prstGeom prst="rect">
            <a:avLst/>
          </a:prstGeom>
        </p:spPr>
      </p:pic>
    </p:spTree>
    <p:extLst>
      <p:ext uri="{BB962C8B-B14F-4D97-AF65-F5344CB8AC3E}">
        <p14:creationId xmlns:p14="http://schemas.microsoft.com/office/powerpoint/2010/main" val="360205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50D747-17D7-58D4-FBFE-352875438DB6}"/>
              </a:ext>
            </a:extLst>
          </p:cNvPr>
          <p:cNvPicPr>
            <a:picLocks noChangeAspect="1"/>
          </p:cNvPicPr>
          <p:nvPr/>
        </p:nvPicPr>
        <p:blipFill>
          <a:blip r:embed="rId2"/>
          <a:stretch>
            <a:fillRect/>
          </a:stretch>
        </p:blipFill>
        <p:spPr>
          <a:xfrm>
            <a:off x="7951757" y="1818796"/>
            <a:ext cx="3215810" cy="2110793"/>
          </a:xfrm>
          <a:prstGeom prst="rect">
            <a:avLst/>
          </a:prstGeom>
        </p:spPr>
      </p:pic>
      <p:pic>
        <p:nvPicPr>
          <p:cNvPr id="7" name="Picture 6">
            <a:extLst>
              <a:ext uri="{FF2B5EF4-FFF2-40B4-BE49-F238E27FC236}">
                <a16:creationId xmlns:a16="http://schemas.microsoft.com/office/drawing/2014/main" id="{8B7244C0-04E0-FEA1-2E63-EE2266957848}"/>
              </a:ext>
            </a:extLst>
          </p:cNvPr>
          <p:cNvPicPr>
            <a:picLocks noChangeAspect="1"/>
          </p:cNvPicPr>
          <p:nvPr/>
        </p:nvPicPr>
        <p:blipFill>
          <a:blip r:embed="rId3"/>
          <a:stretch>
            <a:fillRect/>
          </a:stretch>
        </p:blipFill>
        <p:spPr>
          <a:xfrm>
            <a:off x="748246" y="1911263"/>
            <a:ext cx="6729573" cy="201832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93515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B7DBC29C-762C-8833-6CA9-59F25E24480B}"/>
              </a:ext>
            </a:extLst>
          </p:cNvPr>
          <p:cNvSpPr txBox="1"/>
          <p:nvPr/>
        </p:nvSpPr>
        <p:spPr>
          <a:xfrm>
            <a:off x="6586591" y="621042"/>
            <a:ext cx="5791200" cy="6410631"/>
          </a:xfrm>
          <a:prstGeom prst="rect">
            <a:avLst/>
          </a:prstGeom>
        </p:spPr>
        <p:txBody>
          <a:bodyPr vert="horz" lIns="91440" tIns="45720" rIns="91440" bIns="45720" rtlCol="0" anchor="t">
            <a:normAutofit/>
          </a:bodyPr>
          <a:lstStyle/>
          <a:p>
            <a:pPr indent="-228600" algn="just">
              <a:lnSpc>
                <a:spcPct val="90000"/>
              </a:lnSpc>
              <a:spcAft>
                <a:spcPts val="600"/>
              </a:spcAft>
              <a:buFont typeface="Arial" panose="020B0604020202020204" pitchFamily="34" charset="0"/>
              <a:buChar char="•"/>
            </a:pPr>
            <a:endParaRPr lang="en-US" sz="2000" b="1" dirty="0"/>
          </a:p>
          <a:p>
            <a:pPr indent="-228600" algn="just">
              <a:lnSpc>
                <a:spcPct val="90000"/>
              </a:lnSpc>
              <a:spcAft>
                <a:spcPts val="600"/>
              </a:spcAft>
              <a:buFont typeface="Arial" panose="020B0604020202020204" pitchFamily="34" charset="0"/>
              <a:buChar char="•"/>
            </a:pPr>
            <a:r>
              <a:rPr lang="en-US" sz="2000" b="1" dirty="0"/>
              <a:t>Increase Loan Verification</a:t>
            </a:r>
            <a:r>
              <a:rPr lang="en-US" sz="2000" dirty="0"/>
              <a:t>:</a:t>
            </a:r>
          </a:p>
          <a:p>
            <a:pPr lvl="1" indent="-228600" algn="just">
              <a:lnSpc>
                <a:spcPct val="90000"/>
              </a:lnSpc>
              <a:spcAft>
                <a:spcPts val="600"/>
              </a:spcAft>
              <a:buFont typeface="Arial" panose="020B0604020202020204" pitchFamily="34" charset="0"/>
              <a:buChar char="•"/>
            </a:pPr>
            <a:endParaRPr lang="en-US" sz="2000" dirty="0"/>
          </a:p>
          <a:p>
            <a:pPr indent="-228600" algn="just">
              <a:lnSpc>
                <a:spcPct val="90000"/>
              </a:lnSpc>
              <a:spcAft>
                <a:spcPts val="600"/>
              </a:spcAft>
              <a:buFont typeface="Arial" panose="020B0604020202020204" pitchFamily="34" charset="0"/>
              <a:buChar char="•"/>
            </a:pPr>
            <a:r>
              <a:rPr lang="en-US" sz="2000" b="1" dirty="0"/>
              <a:t>Expand to New States</a:t>
            </a:r>
            <a:r>
              <a:rPr lang="en-US" sz="2000" dirty="0"/>
              <a:t>:</a:t>
            </a:r>
          </a:p>
          <a:p>
            <a:pPr indent="-228600" algn="just">
              <a:lnSpc>
                <a:spcPct val="90000"/>
              </a:lnSpc>
              <a:spcAft>
                <a:spcPts val="600"/>
              </a:spcAft>
              <a:buFont typeface="Arial" panose="020B0604020202020204" pitchFamily="34" charset="0"/>
              <a:buChar char="•"/>
            </a:pPr>
            <a:endParaRPr lang="en-US" sz="2000" dirty="0"/>
          </a:p>
          <a:p>
            <a:pPr indent="-228600" algn="just">
              <a:lnSpc>
                <a:spcPct val="90000"/>
              </a:lnSpc>
              <a:spcAft>
                <a:spcPts val="600"/>
              </a:spcAft>
              <a:buFont typeface="Arial" panose="020B0604020202020204" pitchFamily="34" charset="0"/>
              <a:buChar char="•"/>
            </a:pPr>
            <a:r>
              <a:rPr lang="en-US" sz="2000" b="1" dirty="0"/>
              <a:t>Focus on High-Potential Borrowers</a:t>
            </a:r>
            <a:r>
              <a:rPr lang="en-US" sz="2000" dirty="0"/>
              <a:t>:</a:t>
            </a:r>
          </a:p>
          <a:p>
            <a:pPr algn="just">
              <a:lnSpc>
                <a:spcPct val="90000"/>
              </a:lnSpc>
              <a:spcAft>
                <a:spcPts val="600"/>
              </a:spcAft>
            </a:pPr>
            <a:r>
              <a:rPr lang="en-US" sz="2000" dirty="0"/>
              <a:t> </a:t>
            </a:r>
          </a:p>
          <a:p>
            <a:pPr indent="-228600" algn="just">
              <a:lnSpc>
                <a:spcPct val="90000"/>
              </a:lnSpc>
              <a:spcAft>
                <a:spcPts val="600"/>
              </a:spcAft>
              <a:buFont typeface="Arial" panose="020B0604020202020204" pitchFamily="34" charset="0"/>
              <a:buChar char="•"/>
            </a:pPr>
            <a:r>
              <a:rPr lang="en-US" sz="2000" b="1" dirty="0"/>
              <a:t>Monitor and Optimize Loan Grades</a:t>
            </a:r>
            <a:r>
              <a:rPr lang="en-US" sz="2000" dirty="0"/>
              <a:t>:</a:t>
            </a:r>
          </a:p>
          <a:p>
            <a:pPr lvl="1" indent="-228600" algn="just">
              <a:lnSpc>
                <a:spcPct val="90000"/>
              </a:lnSpc>
              <a:spcAft>
                <a:spcPts val="600"/>
              </a:spcAft>
              <a:buFont typeface="Arial" panose="020B0604020202020204" pitchFamily="34" charset="0"/>
              <a:buChar char="•"/>
            </a:pPr>
            <a:endParaRPr lang="en-US" sz="2000" dirty="0"/>
          </a:p>
          <a:p>
            <a:pPr indent="-228600" algn="just">
              <a:lnSpc>
                <a:spcPct val="90000"/>
              </a:lnSpc>
              <a:spcAft>
                <a:spcPts val="600"/>
              </a:spcAft>
              <a:buFont typeface="Arial" panose="020B0604020202020204" pitchFamily="34" charset="0"/>
              <a:buChar char="•"/>
            </a:pPr>
            <a:r>
              <a:rPr lang="en-US" sz="2000" b="1" dirty="0"/>
              <a:t>Boost Loans in Under-Represented Grades</a:t>
            </a:r>
            <a:r>
              <a:rPr lang="en-US" sz="2000" dirty="0"/>
              <a:t>:</a:t>
            </a:r>
          </a:p>
          <a:p>
            <a:pPr marL="228600" lvl="1" algn="just">
              <a:lnSpc>
                <a:spcPct val="90000"/>
              </a:lnSpc>
              <a:spcAft>
                <a:spcPts val="600"/>
              </a:spcAft>
            </a:pPr>
            <a:endParaRPr lang="en-US" sz="2000" dirty="0"/>
          </a:p>
          <a:p>
            <a:pPr indent="-228600" algn="just">
              <a:lnSpc>
                <a:spcPct val="90000"/>
              </a:lnSpc>
              <a:spcAft>
                <a:spcPts val="600"/>
              </a:spcAft>
              <a:buFont typeface="Arial" panose="020B0604020202020204" pitchFamily="34" charset="0"/>
              <a:buChar char="•"/>
            </a:pPr>
            <a:r>
              <a:rPr lang="en-US" sz="2000" b="1" dirty="0"/>
              <a:t>Leverage Top-Performing States</a:t>
            </a:r>
            <a:r>
              <a:rPr lang="en-US" sz="2000" dirty="0"/>
              <a:t>:</a:t>
            </a:r>
          </a:p>
          <a:p>
            <a:pPr marL="228600" lvl="1" algn="just">
              <a:lnSpc>
                <a:spcPct val="90000"/>
              </a:lnSpc>
              <a:spcAft>
                <a:spcPts val="600"/>
              </a:spcAft>
            </a:pPr>
            <a:endParaRPr lang="en-US" sz="2000" dirty="0"/>
          </a:p>
          <a:p>
            <a:pPr indent="-228600" algn="just">
              <a:lnSpc>
                <a:spcPct val="90000"/>
              </a:lnSpc>
              <a:spcAft>
                <a:spcPts val="600"/>
              </a:spcAft>
              <a:buFont typeface="Arial" panose="020B0604020202020204" pitchFamily="34" charset="0"/>
              <a:buChar char="•"/>
            </a:pPr>
            <a:r>
              <a:rPr lang="en-US" sz="2000" b="1" dirty="0"/>
              <a:t>Implement Early Warning Systems</a:t>
            </a:r>
            <a:r>
              <a:rPr lang="en-US" sz="2000" dirty="0"/>
              <a:t>:</a:t>
            </a:r>
          </a:p>
          <a:p>
            <a:pPr algn="just">
              <a:lnSpc>
                <a:spcPct val="90000"/>
              </a:lnSpc>
              <a:spcAft>
                <a:spcPts val="600"/>
              </a:spcAft>
            </a:pPr>
            <a:endParaRPr lang="en-US" sz="2000"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0B15F35D-921D-9507-FA7B-3475090ADFBB}"/>
              </a:ext>
            </a:extLst>
          </p:cNvPr>
          <p:cNvSpPr txBox="1"/>
          <p:nvPr/>
        </p:nvSpPr>
        <p:spPr>
          <a:xfrm>
            <a:off x="928410" y="2951414"/>
            <a:ext cx="4339073" cy="707886"/>
          </a:xfrm>
          <a:prstGeom prst="rect">
            <a:avLst/>
          </a:prstGeom>
          <a:noFill/>
        </p:spPr>
        <p:txBody>
          <a:bodyPr wrap="none" rtlCol="0">
            <a:spAutoFit/>
          </a:bodyPr>
          <a:lstStyle/>
          <a:p>
            <a:r>
              <a:rPr lang="en-US" sz="2000" b="1" dirty="0"/>
              <a:t>SUGGESTIONS FOR BUSINESS GROWTH</a:t>
            </a:r>
          </a:p>
          <a:p>
            <a:endParaRPr lang="en-IN" sz="2000" dirty="0"/>
          </a:p>
        </p:txBody>
      </p:sp>
    </p:spTree>
    <p:extLst>
      <p:ext uri="{BB962C8B-B14F-4D97-AF65-F5344CB8AC3E}">
        <p14:creationId xmlns:p14="http://schemas.microsoft.com/office/powerpoint/2010/main" val="321908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61E390-122F-4A68-9F67-9D39BF3E2BB2}"/>
              </a:ext>
            </a:extLst>
          </p:cNvPr>
          <p:cNvSpPr>
            <a:spLocks noGrp="1"/>
          </p:cNvSpPr>
          <p:nvPr>
            <p:ph type="title"/>
          </p:nvPr>
        </p:nvSpPr>
        <p:spPr>
          <a:xfrm>
            <a:off x="838200" y="365125"/>
            <a:ext cx="10515600" cy="1325563"/>
          </a:xfrm>
        </p:spPr>
        <p:txBody>
          <a:bodyPr>
            <a:normAutofit/>
          </a:bodyPr>
          <a:lstStyle/>
          <a:p>
            <a:r>
              <a:rPr lang="en-US" sz="5400" dirty="0"/>
              <a:t>CONCLUSION</a:t>
            </a:r>
          </a:p>
        </p:txBody>
      </p:sp>
      <p:sp>
        <p:nvSpPr>
          <p:cNvPr id="18"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705FD231-16DB-F0BB-78D9-FDFFF5D2D1F3}"/>
              </a:ext>
            </a:extLst>
          </p:cNvPr>
          <p:cNvGraphicFramePr>
            <a:graphicFrameLocks noGrp="1"/>
          </p:cNvGraphicFramePr>
          <p:nvPr>
            <p:ph idx="1"/>
            <p:extLst>
              <p:ext uri="{D42A27DB-BD31-4B8C-83A1-F6EECF244321}">
                <p14:modId xmlns:p14="http://schemas.microsoft.com/office/powerpoint/2010/main" val="3733258119"/>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6257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871</TotalTime>
  <Words>636</Words>
  <Application>Microsoft Office PowerPoint</Application>
  <PresentationFormat>Widescreen</PresentationFormat>
  <Paragraphs>71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 Narrow</vt:lpstr>
      <vt:lpstr>Arial</vt:lpstr>
      <vt:lpstr>Calibri</vt:lpstr>
      <vt:lpstr>Calibri Light</vt:lpstr>
      <vt:lpstr>Ginto</vt:lpstr>
      <vt:lpstr>Office Theme</vt:lpstr>
      <vt:lpstr>EXCELR- BANKING ANALYSIS PROJECT </vt:lpstr>
      <vt:lpstr>INTRODUCTION</vt:lpstr>
      <vt:lpstr>DATA CLEANING AND VISUALIZATION PROCESS </vt:lpstr>
      <vt:lpstr>KPI’s</vt:lpstr>
      <vt:lpstr>PowerPoint Presentation</vt:lpstr>
      <vt:lpstr>PowerPoint Presentation</vt:lpstr>
      <vt:lpstr>EXCEL DASHBOARD</vt:lpstr>
      <vt:lpstr>POWER BI - DASHBOARD</vt:lpstr>
      <vt:lpstr>TABLEAU DASHBOARD</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OS11981</dc:creator>
  <cp:lastModifiedBy>PATIL MANASI MOHAN (FCP Student)</cp:lastModifiedBy>
  <cp:revision>12</cp:revision>
  <dcterms:created xsi:type="dcterms:W3CDTF">2024-10-18T17:29:23Z</dcterms:created>
  <dcterms:modified xsi:type="dcterms:W3CDTF">2026-06-27T17:19:37Z</dcterms:modified>
</cp:coreProperties>
</file>